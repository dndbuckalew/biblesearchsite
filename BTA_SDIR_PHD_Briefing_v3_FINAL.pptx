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2"/>
  </p:notesMasterIdLst>
  <p:sldIdLst>
    <p:sldId id="256" r:id="rId2"/>
    <p:sldId id="275" r:id="rId3"/>
    <p:sldId id="276" r:id="rId4"/>
    <p:sldId id="277" r:id="rId5"/>
    <p:sldId id="279" r:id="rId6"/>
    <p:sldId id="278" r:id="rId7"/>
    <p:sldId id="295" r:id="rId8"/>
    <p:sldId id="257" r:id="rId9"/>
    <p:sldId id="258" r:id="rId10"/>
    <p:sldId id="259" r:id="rId11"/>
    <p:sldId id="260" r:id="rId12"/>
    <p:sldId id="261" r:id="rId13"/>
    <p:sldId id="262" r:id="rId14"/>
    <p:sldId id="263" r:id="rId15"/>
    <p:sldId id="264" r:id="rId16"/>
    <p:sldId id="283" r:id="rId17"/>
    <p:sldId id="284" r:id="rId18"/>
    <p:sldId id="285" r:id="rId19"/>
    <p:sldId id="265" r:id="rId20"/>
    <p:sldId id="266" r:id="rId21"/>
    <p:sldId id="267" r:id="rId22"/>
    <p:sldId id="268" r:id="rId23"/>
    <p:sldId id="269" r:id="rId24"/>
    <p:sldId id="270" r:id="rId25"/>
    <p:sldId id="271" r:id="rId26"/>
    <p:sldId id="272" r:id="rId27"/>
    <p:sldId id="273" r:id="rId28"/>
    <p:sldId id="274" r:id="rId29"/>
    <p:sldId id="280" r:id="rId30"/>
    <p:sldId id="281" r:id="rId31"/>
    <p:sldId id="287" r:id="rId32"/>
    <p:sldId id="288" r:id="rId33"/>
    <p:sldId id="289" r:id="rId34"/>
    <p:sldId id="290" r:id="rId35"/>
    <p:sldId id="291" r:id="rId36"/>
    <p:sldId id="292" r:id="rId37"/>
    <p:sldId id="293" r:id="rId38"/>
    <p:sldId id="294" r:id="rId39"/>
    <p:sldId id="286" r:id="rId40"/>
    <p:sldId id="282" r:id="rId4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179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33190-6DAD-4D48-B458-F4C463AD0A23}" type="datetimeFigureOut">
              <a:rPr lang="en-US" smtClean="0"/>
              <a:t>6/2/2026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1C440-4991-4145-99B0-609EA0B372FD}" type="slidenum">
              <a:rPr lang="en-US" smtClean="0"/>
              <a:t>‹#›</a:t>
            </a:fld>
            <a:endParaRPr lang="en-US"/>
          </a:p>
        </p:txBody>
      </p:sp>
    </p:spTree>
    <p:extLst>
      <p:ext uri="{BB962C8B-B14F-4D97-AF65-F5344CB8AC3E}">
        <p14:creationId xmlns:p14="http://schemas.microsoft.com/office/powerpoint/2010/main" val="2787619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6404D8C-925A-46F2-A6E6-BCC47BA76CD5}"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94EB7A-4968-4D2D-A06F-5E9415010118}"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59C375-95A8-4A1D-B692-724E5CD031F7}"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C0CD02E-814B-44BE-A5D5-023E7894E1D0}"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015E92-BB3C-41EC-9715-868865F29560}" type="datetime1">
              <a:rPr lang="en-US" smtClean="0"/>
              <a:t>6/2/2026</a:t>
            </a:fld>
            <a:endParaRPr lang="en-US"/>
          </a:p>
        </p:txBody>
      </p:sp>
      <p:sp>
        <p:nvSpPr>
          <p:cNvPr id="8" name="Footer Placeholder 7"/>
          <p:cNvSpPr>
            <a:spLocks noGrp="1"/>
          </p:cNvSpPr>
          <p:nvPr>
            <p:ph type="ftr" sz="quarter" idx="11"/>
          </p:nvPr>
        </p:nvSpPr>
        <p:spPr/>
        <p:txBody>
          <a:bodyPr/>
          <a:lstStyle/>
          <a:p>
            <a:r>
              <a:rPr lang="en-US"/>
              <a:t>BTA / TAD Concepts – PhD Review &amp; SBIR Exploration - Version 1</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532681D-45D9-495E-ACCA-B4541133C625}" type="datetime1">
              <a:rPr lang="en-US" smtClean="0"/>
              <a:t>6/2/2026</a:t>
            </a:fld>
            <a:endParaRPr lang="en-US"/>
          </a:p>
        </p:txBody>
      </p:sp>
      <p:sp>
        <p:nvSpPr>
          <p:cNvPr id="4" name="Footer Placeholder 3"/>
          <p:cNvSpPr>
            <a:spLocks noGrp="1"/>
          </p:cNvSpPr>
          <p:nvPr>
            <p:ph type="ftr" sz="quarter" idx="11"/>
          </p:nvPr>
        </p:nvSpPr>
        <p:spPr/>
        <p:txBody>
          <a:bodyPr/>
          <a:lstStyle/>
          <a:p>
            <a:r>
              <a:rPr lang="en-US"/>
              <a:t>BTA / TAD Concepts – PhD Review &amp; SBIR Exploration - Version 1</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495BE2-11F2-4466-A732-8E10D410713C}" type="datetime1">
              <a:rPr lang="en-US" smtClean="0"/>
              <a:t>6/2/2026</a:t>
            </a:fld>
            <a:endParaRPr lang="en-US"/>
          </a:p>
        </p:txBody>
      </p:sp>
      <p:sp>
        <p:nvSpPr>
          <p:cNvPr id="3" name="Footer Placeholder 2"/>
          <p:cNvSpPr>
            <a:spLocks noGrp="1"/>
          </p:cNvSpPr>
          <p:nvPr>
            <p:ph type="ftr" sz="quarter" idx="11"/>
          </p:nvPr>
        </p:nvSpPr>
        <p:spPr/>
        <p:txBody>
          <a:bodyPr/>
          <a:lstStyle/>
          <a:p>
            <a:r>
              <a:rPr lang="en-US"/>
              <a:t>BTA / TAD Concepts – PhD Review &amp; SBIR Exploration - Version 1</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2956FEC-36E8-477F-ACBA-22589C2A458B}"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CDB583-9B05-4503-BE67-A8034CBEFC5D}" type="datetime1">
              <a:rPr lang="en-US" smtClean="0"/>
              <a:t>6/2/2026</a:t>
            </a:fld>
            <a:endParaRPr lang="en-US"/>
          </a:p>
        </p:txBody>
      </p:sp>
      <p:sp>
        <p:nvSpPr>
          <p:cNvPr id="6" name="Footer Placeholder 5"/>
          <p:cNvSpPr>
            <a:spLocks noGrp="1"/>
          </p:cNvSpPr>
          <p:nvPr>
            <p:ph type="ftr" sz="quarter" idx="11"/>
          </p:nvPr>
        </p:nvSpPr>
        <p:spPr/>
        <p:txBody>
          <a:bodyPr/>
          <a:lstStyle/>
          <a:p>
            <a:r>
              <a:rPr lang="en-US"/>
              <a:t>BTA / TAD Concepts – PhD Review &amp; SBIR Exploration - Version 1</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E64C09-CA67-4B8F-9B7F-57FF4210119F}"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4F4E55B-C945-4EB0-A5AC-A702443812C5}" type="datetime1">
              <a:rPr lang="en-US" smtClean="0"/>
              <a:t>6/2/2026</a:t>
            </a:fld>
            <a:endParaRPr lang="en-US"/>
          </a:p>
        </p:txBody>
      </p:sp>
      <p:sp>
        <p:nvSpPr>
          <p:cNvPr id="5" name="Footer Placeholder 4"/>
          <p:cNvSpPr>
            <a:spLocks noGrp="1"/>
          </p:cNvSpPr>
          <p:nvPr>
            <p:ph type="ftr" sz="quarter" idx="11"/>
          </p:nvPr>
        </p:nvSpPr>
        <p:spPr/>
        <p:txBody>
          <a:bodyPr/>
          <a:lstStyle/>
          <a:p>
            <a:r>
              <a:rPr lang="en-US"/>
              <a:t>BTA / TAD Concepts – PhD Review &amp; SBIR Exploration - Version 1</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4D1FF3-5E67-46EA-9B74-2F2161C012B2}" type="datetime1">
              <a:rPr lang="en-US" smtClean="0"/>
              <a:t>6/2/2026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BTA / TAD Concepts – PhD Review &amp; SBIR Exploration - Version 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966087"/>
          </a:xfrm>
        </p:spPr>
        <p:txBody>
          <a:bodyPr>
            <a:normAutofit fontScale="90000"/>
          </a:bodyPr>
          <a:lstStyle/>
          <a:p>
            <a:r>
              <a:rPr dirty="0"/>
              <a:t>TAD Concepts: Governed Semantic Orchestration</a:t>
            </a:r>
            <a:br>
              <a:rPr lang="en-US" dirty="0"/>
            </a:br>
            <a:r>
              <a:rPr lang="en-US" dirty="0"/>
              <a:t>BTA: initial Orchestration</a:t>
            </a:r>
            <a:endParaRPr dirty="0"/>
          </a:p>
        </p:txBody>
      </p:sp>
      <p:sp>
        <p:nvSpPr>
          <p:cNvPr id="3" name="Subtitle 2"/>
          <p:cNvSpPr>
            <a:spLocks noGrp="1"/>
          </p:cNvSpPr>
          <p:nvPr>
            <p:ph type="subTitle" idx="1"/>
          </p:nvPr>
        </p:nvSpPr>
        <p:spPr>
          <a:xfrm>
            <a:off x="1371600" y="4551553"/>
            <a:ext cx="6400800" cy="822960"/>
          </a:xfrm>
        </p:spPr>
        <p:txBody>
          <a:bodyPr>
            <a:normAutofit/>
          </a:bodyPr>
          <a:lstStyle/>
          <a:p>
            <a:r>
              <a:rPr sz="1400" dirty="0"/>
              <a:t>BTA began as a Scripture engagement platform and evolved into a governed semantic orchestration architecture focused on preserving meaning, continuity, authority, and trust across knowledge domains.</a:t>
            </a:r>
          </a:p>
        </p:txBody>
      </p:sp>
      <p:sp>
        <p:nvSpPr>
          <p:cNvPr id="4" name="Footer Placeholder 3">
            <a:extLst>
              <a:ext uri="{FF2B5EF4-FFF2-40B4-BE49-F238E27FC236}">
                <a16:creationId xmlns:a16="http://schemas.microsoft.com/office/drawing/2014/main" id="{50BB3113-5343-B293-1418-AC4831237CA9}"/>
              </a:ext>
            </a:extLst>
          </p:cNvPr>
          <p:cNvSpPr>
            <a:spLocks noGrp="1"/>
          </p:cNvSpPr>
          <p:nvPr>
            <p:ph type="ftr" sz="quarter" idx="11"/>
          </p:nvPr>
        </p:nvSpPr>
        <p:spPr>
          <a:xfrm>
            <a:off x="2467356" y="6173787"/>
            <a:ext cx="4209288" cy="365125"/>
          </a:xfrm>
        </p:spPr>
        <p:txBody>
          <a:bodyPr/>
          <a:lstStyle/>
          <a:p>
            <a:r>
              <a:rPr lang="en-US" dirty="0"/>
              <a:t>BTA / TAD Concepts – PhD Review &amp; SBIR Exploration - Version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B0550C-E250-D679-98DE-4EA8D1F8AC36}"/>
              </a:ext>
            </a:extLst>
          </p:cNvPr>
          <p:cNvSpPr>
            <a:spLocks noGrp="1"/>
          </p:cNvSpPr>
          <p:nvPr>
            <p:ph idx="1"/>
          </p:nvPr>
        </p:nvSpPr>
        <p:spPr>
          <a:xfrm>
            <a:off x="228600" y="594360"/>
            <a:ext cx="8229600" cy="5056632"/>
          </a:xfrm>
        </p:spPr>
        <p:txBody>
          <a:bodyPr>
            <a:normAutofit fontScale="92500" lnSpcReduction="20000"/>
          </a:bodyPr>
          <a:lstStyle/>
          <a:p>
            <a:pPr marL="0" indent="0" algn="ctr">
              <a:buNone/>
            </a:pPr>
            <a:r>
              <a:rPr lang="en-US" sz="2400" b="1" dirty="0"/>
              <a:t>What Is BTA? (Original Mission)</a:t>
            </a:r>
          </a:p>
          <a:p>
            <a:pPr algn="ctr"/>
            <a:endParaRPr lang="en-US" sz="2400" b="1" dirty="0"/>
          </a:p>
          <a:p>
            <a:pPr marL="0" indent="0" algn="ctr">
              <a:buNone/>
            </a:pPr>
            <a:r>
              <a:rPr lang="en-US" sz="2400" b="1" dirty="0"/>
              <a:t>Bible Therapy Assistant (BTA)</a:t>
            </a:r>
          </a:p>
          <a:p>
            <a:pPr marL="0" indent="0" algn="ctr">
              <a:buNone/>
            </a:pPr>
            <a:r>
              <a:rPr lang="en-US" sz="2400" dirty="0"/>
              <a:t>An AI-assisted Scripture engagement platform designed to help individuals explore, understand, and reflect on Scripture through a trust-centered and context-aware experience.</a:t>
            </a:r>
          </a:p>
          <a:p>
            <a:pPr algn="ctr"/>
            <a:endParaRPr lang="en-US" sz="2400" dirty="0"/>
          </a:p>
          <a:p>
            <a:pPr algn="ctr"/>
            <a:r>
              <a:rPr lang="en-US" sz="2400" b="1" dirty="0"/>
              <a:t>Core Objectives</a:t>
            </a:r>
          </a:p>
          <a:p>
            <a:pPr algn="ctr"/>
            <a:r>
              <a:rPr lang="en-US" sz="2400" dirty="0"/>
              <a:t>Improve Scripture understanding </a:t>
            </a:r>
          </a:p>
          <a:p>
            <a:pPr algn="ctr"/>
            <a:r>
              <a:rPr lang="en-US" sz="2400" dirty="0"/>
              <a:t>Support contextual Bible exploration </a:t>
            </a:r>
          </a:p>
          <a:p>
            <a:pPr algn="ctr"/>
            <a:r>
              <a:rPr lang="en-US" sz="2400" dirty="0"/>
              <a:t>Encourage personal reflection </a:t>
            </a:r>
          </a:p>
          <a:p>
            <a:pPr algn="ctr"/>
            <a:r>
              <a:rPr lang="en-US" sz="2400" dirty="0"/>
              <a:t>Preserve Scriptural authority </a:t>
            </a:r>
          </a:p>
          <a:p>
            <a:pPr algn="ctr"/>
            <a:r>
              <a:rPr lang="en-US" sz="2400" dirty="0"/>
              <a:t>Provide safe AI-assisted interaction </a:t>
            </a:r>
          </a:p>
          <a:p>
            <a:pPr algn="ctr"/>
            <a:r>
              <a:rPr lang="en-US" sz="2400" dirty="0"/>
              <a:t>Reduce reliance on simple keyword search </a:t>
            </a:r>
          </a:p>
          <a:p>
            <a:pPr algn="ctr"/>
            <a:r>
              <a:rPr lang="en-US" sz="2400" dirty="0"/>
              <a:t>Help users understand </a:t>
            </a:r>
            <a:r>
              <a:rPr lang="en-US" sz="2400" i="1" dirty="0"/>
              <a:t>why</a:t>
            </a:r>
            <a:r>
              <a:rPr lang="en-US" sz="2400" dirty="0"/>
              <a:t> Scripture says what it says</a:t>
            </a:r>
          </a:p>
          <a:p>
            <a:endParaRPr lang="en-US" dirty="0"/>
          </a:p>
        </p:txBody>
      </p:sp>
      <p:sp>
        <p:nvSpPr>
          <p:cNvPr id="2" name="Footer Placeholder 1">
            <a:extLst>
              <a:ext uri="{FF2B5EF4-FFF2-40B4-BE49-F238E27FC236}">
                <a16:creationId xmlns:a16="http://schemas.microsoft.com/office/drawing/2014/main" id="{639381EE-1567-4E9A-A357-600DB89AB179}"/>
              </a:ext>
            </a:extLst>
          </p:cNvPr>
          <p:cNvSpPr>
            <a:spLocks noGrp="1"/>
          </p:cNvSpPr>
          <p:nvPr>
            <p:ph type="ftr" sz="quarter" idx="11"/>
          </p:nvPr>
        </p:nvSpPr>
        <p:spPr>
          <a:xfrm>
            <a:off x="2703576" y="6263640"/>
            <a:ext cx="422757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182304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9EF12-F87B-4301-74AA-C4AFC66A44E5}"/>
              </a:ext>
            </a:extLst>
          </p:cNvPr>
          <p:cNvSpPr>
            <a:spLocks noGrp="1"/>
          </p:cNvSpPr>
          <p:nvPr>
            <p:ph idx="1"/>
          </p:nvPr>
        </p:nvSpPr>
        <p:spPr>
          <a:xfrm>
            <a:off x="457200" y="493776"/>
            <a:ext cx="8229600" cy="5632387"/>
          </a:xfrm>
        </p:spPr>
        <p:txBody>
          <a:bodyPr>
            <a:normAutofit fontScale="77500" lnSpcReduction="20000"/>
          </a:bodyPr>
          <a:lstStyle/>
          <a:p>
            <a:pPr algn="ctr"/>
            <a:endParaRPr lang="en-US" sz="2900" dirty="0"/>
          </a:p>
          <a:p>
            <a:pPr algn="ctr"/>
            <a:r>
              <a:rPr lang="en-US" sz="2900" dirty="0"/>
              <a:t>BTA was originally conceived as a faith-based AI platform focused on helping individuals engage more deeply with Scripture. Rather than functioning as a traditional Bible search engine or concordance, the goal was to create a trust-centered environment where users could explore passages, understand their context, and reflect upon their meaning.</a:t>
            </a:r>
          </a:p>
          <a:p>
            <a:pPr algn="ctr"/>
            <a:endParaRPr lang="en-US" sz="2900" dirty="0"/>
          </a:p>
          <a:p>
            <a:pPr algn="ctr"/>
            <a:r>
              <a:rPr lang="en-US" sz="2900" dirty="0"/>
              <a:t>The initial design focused on preserving the authority of Scripture while using AI to support understanding rather than replace it. Key capabilities included Scripture retrieval, contextual exploration, reflection generation, translation awareness, and controlled AI interaction. At this stage, BTA was viewed primarily as a specialized application serving churches, ministries, educators, and individuals seeking deeper engagement with biblical texts.</a:t>
            </a:r>
          </a:p>
          <a:p>
            <a:pPr algn="ctr"/>
            <a:endParaRPr lang="en-US" sz="2900" dirty="0"/>
          </a:p>
          <a:p>
            <a:pPr algn="ctr"/>
            <a:r>
              <a:rPr lang="en-US" sz="2900" dirty="0"/>
              <a:t>As development progressed, however, solving these challenges revealed a broader architectural problem that extended far beyond Scripture itself.</a:t>
            </a:r>
          </a:p>
          <a:p>
            <a:endParaRPr lang="en-US" dirty="0"/>
          </a:p>
        </p:txBody>
      </p:sp>
      <p:sp>
        <p:nvSpPr>
          <p:cNvPr id="2" name="Footer Placeholder 1">
            <a:extLst>
              <a:ext uri="{FF2B5EF4-FFF2-40B4-BE49-F238E27FC236}">
                <a16:creationId xmlns:a16="http://schemas.microsoft.com/office/drawing/2014/main" id="{73519F0C-C70A-8031-5D82-62B305B8C682}"/>
              </a:ext>
            </a:extLst>
          </p:cNvPr>
          <p:cNvSpPr>
            <a:spLocks noGrp="1"/>
          </p:cNvSpPr>
          <p:nvPr>
            <p:ph type="ftr" sz="quarter" idx="11"/>
          </p:nvPr>
        </p:nvSpPr>
        <p:spPr>
          <a:xfrm>
            <a:off x="2548128" y="6274054"/>
            <a:ext cx="425500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6754549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60698C-317C-2EA3-D7A4-5778F3807A32}"/>
              </a:ext>
            </a:extLst>
          </p:cNvPr>
          <p:cNvSpPr txBox="1"/>
          <p:nvPr/>
        </p:nvSpPr>
        <p:spPr>
          <a:xfrm>
            <a:off x="192024" y="308825"/>
            <a:ext cx="8695944" cy="6217087"/>
          </a:xfrm>
          <a:prstGeom prst="rect">
            <a:avLst/>
          </a:prstGeom>
          <a:noFill/>
        </p:spPr>
        <p:txBody>
          <a:bodyPr wrap="square">
            <a:spAutoFit/>
          </a:bodyPr>
          <a:lstStyle/>
          <a:p>
            <a:pPr algn="ctr">
              <a:buNone/>
            </a:pPr>
            <a:r>
              <a:rPr lang="en-US" sz="2200" b="1" dirty="0"/>
              <a:t>The Unexpected Discovery</a:t>
            </a:r>
          </a:p>
          <a:p>
            <a:pPr algn="ctr">
              <a:buNone/>
            </a:pPr>
            <a:r>
              <a:rPr lang="en-US" sz="2200" b="1" dirty="0"/>
              <a:t>Solving Scripture Understanding Required Solving a Much Larger AI Problem</a:t>
            </a:r>
          </a:p>
          <a:p>
            <a:pPr>
              <a:buNone/>
            </a:pPr>
            <a:endParaRPr lang="en-US" sz="800" dirty="0"/>
          </a:p>
          <a:p>
            <a:pPr algn="ctr">
              <a:buNone/>
            </a:pPr>
            <a:r>
              <a:rPr lang="en-US" sz="2200" dirty="0"/>
              <a:t>As development of BTA progressed, a recurring challenge emerged.</a:t>
            </a:r>
          </a:p>
          <a:p>
            <a:pPr algn="ctr">
              <a:buNone/>
            </a:pPr>
            <a:r>
              <a:rPr lang="en-US" sz="2200" dirty="0"/>
              <a:t>The difficulty was not retrieving Scripture.</a:t>
            </a:r>
          </a:p>
          <a:p>
            <a:pPr algn="ctr">
              <a:buNone/>
            </a:pPr>
            <a:endParaRPr lang="en-US" sz="800" dirty="0"/>
          </a:p>
          <a:p>
            <a:pPr algn="ctr">
              <a:buNone/>
            </a:pPr>
            <a:r>
              <a:rPr lang="en-US" sz="2200" dirty="0"/>
              <a:t>The difficulty was preserving meaning.</a:t>
            </a:r>
          </a:p>
          <a:p>
            <a:pPr algn="ctr">
              <a:buNone/>
            </a:pPr>
            <a:endParaRPr lang="en-US" sz="800" dirty="0"/>
          </a:p>
          <a:p>
            <a:pPr algn="ctr">
              <a:buNone/>
            </a:pPr>
            <a:r>
              <a:rPr lang="en-US" sz="2200" dirty="0"/>
              <a:t>To help users understand </a:t>
            </a:r>
            <a:r>
              <a:rPr lang="en-US" sz="2200" i="1" dirty="0"/>
              <a:t>why</a:t>
            </a:r>
            <a:r>
              <a:rPr lang="en-US" sz="2200" dirty="0"/>
              <a:t> a passage says what it says, the system needed to maintain context, relationships, continuity, and trust across multiple layers of understanding.</a:t>
            </a:r>
          </a:p>
          <a:p>
            <a:pPr algn="ctr">
              <a:buNone/>
            </a:pPr>
            <a:endParaRPr lang="en-US" sz="800" dirty="0"/>
          </a:p>
          <a:p>
            <a:pPr algn="ctr">
              <a:buNone/>
            </a:pPr>
            <a:r>
              <a:rPr lang="en-US" sz="2200" dirty="0"/>
              <a:t>Traditional AI approaches were effective at generating responses, but they often struggled to preserve semantic continuity as understanding deepened.</a:t>
            </a:r>
          </a:p>
          <a:p>
            <a:pPr algn="ctr">
              <a:buNone/>
            </a:pPr>
            <a:endParaRPr lang="en-US" sz="800" dirty="0"/>
          </a:p>
          <a:p>
            <a:pPr algn="ctr">
              <a:buNone/>
            </a:pPr>
            <a:r>
              <a:rPr lang="en-US" sz="2200" dirty="0"/>
              <a:t>The deeper the platform explored Scripture, the more evident it became that the underlying challenge extended far beyond biblical content.</a:t>
            </a:r>
          </a:p>
          <a:p>
            <a:pPr algn="ctr">
              <a:buNone/>
            </a:pPr>
            <a:endParaRPr lang="en-US" dirty="0"/>
          </a:p>
          <a:p>
            <a:pPr algn="ctr">
              <a:buNone/>
            </a:pPr>
            <a:endParaRPr lang="en-US" dirty="0"/>
          </a:p>
        </p:txBody>
      </p:sp>
      <p:sp>
        <p:nvSpPr>
          <p:cNvPr id="2" name="Footer Placeholder 1">
            <a:extLst>
              <a:ext uri="{FF2B5EF4-FFF2-40B4-BE49-F238E27FC236}">
                <a16:creationId xmlns:a16="http://schemas.microsoft.com/office/drawing/2014/main" id="{615078C7-017A-0A01-02E3-4C1BE139AC2E}"/>
              </a:ext>
            </a:extLst>
          </p:cNvPr>
          <p:cNvSpPr>
            <a:spLocks noGrp="1"/>
          </p:cNvSpPr>
          <p:nvPr>
            <p:ph type="ftr" sz="quarter" idx="11"/>
          </p:nvPr>
        </p:nvSpPr>
        <p:spPr>
          <a:xfrm>
            <a:off x="2575560" y="6492875"/>
            <a:ext cx="433730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849716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27DFBFA-79E1-68E8-1938-7F290631BD6D}"/>
              </a:ext>
            </a:extLst>
          </p:cNvPr>
          <p:cNvSpPr txBox="1"/>
          <p:nvPr/>
        </p:nvSpPr>
        <p:spPr>
          <a:xfrm>
            <a:off x="612648" y="249948"/>
            <a:ext cx="7562088" cy="6617196"/>
          </a:xfrm>
          <a:prstGeom prst="rect">
            <a:avLst/>
          </a:prstGeom>
          <a:noFill/>
        </p:spPr>
        <p:txBody>
          <a:bodyPr wrap="square">
            <a:spAutoFit/>
          </a:bodyPr>
          <a:lstStyle/>
          <a:p>
            <a:pPr algn="ctr"/>
            <a:r>
              <a:rPr lang="en-US" sz="2000" b="1" dirty="0"/>
              <a:t>The Larger AI Problem</a:t>
            </a:r>
          </a:p>
          <a:p>
            <a:pPr algn="ctr"/>
            <a:r>
              <a:rPr lang="en-US" sz="2000" dirty="0"/>
              <a:t>The deeper BTA explored Scripture, the more a broader pattern emerged.</a:t>
            </a:r>
          </a:p>
          <a:p>
            <a:pPr algn="ctr"/>
            <a:r>
              <a:rPr lang="en-US" sz="1400" b="1" u="sng" dirty="0"/>
              <a:t>The same challenges appeared whenever users interacted with complex knowledge systems.</a:t>
            </a:r>
          </a:p>
          <a:p>
            <a:pPr algn="ctr">
              <a:buNone/>
            </a:pPr>
            <a:endParaRPr lang="en-US" sz="800" dirty="0"/>
          </a:p>
          <a:p>
            <a:pPr algn="ctr"/>
            <a:r>
              <a:rPr lang="en-US" sz="1400" b="1" dirty="0"/>
              <a:t>Healthcare Guidance</a:t>
            </a:r>
          </a:p>
          <a:p>
            <a:pPr algn="ctr"/>
            <a:r>
              <a:rPr lang="en-US" sz="1400" dirty="0"/>
              <a:t>BTA's orchestration model can help preserve clinical context and continuity so users understand not only what guidance says, but how related guidance influences decision-making.</a:t>
            </a:r>
          </a:p>
          <a:p>
            <a:pPr algn="ctr"/>
            <a:r>
              <a:rPr lang="en-US" sz="1400" b="1" dirty="0"/>
              <a:t>OSHA Regulations</a:t>
            </a:r>
          </a:p>
          <a:p>
            <a:pPr algn="ctr"/>
            <a:r>
              <a:rPr lang="en-US" sz="1400" dirty="0"/>
              <a:t>BTA can coordinate safety requirements, procedures, and regulatory relationships to help users navigate compliance without losing critical contextual connections.</a:t>
            </a:r>
          </a:p>
          <a:p>
            <a:pPr algn="ctr"/>
            <a:r>
              <a:rPr lang="en-US" sz="1400" b="1" dirty="0"/>
              <a:t>Engineering Standards</a:t>
            </a:r>
          </a:p>
          <a:p>
            <a:pPr algn="ctr"/>
            <a:r>
              <a:rPr lang="en-US" sz="1400" dirty="0"/>
              <a:t>BTA can maintain continuity between standards, specifications, and supporting documentation, reducing fragmented interpretation of technical requirements.</a:t>
            </a:r>
          </a:p>
          <a:p>
            <a:pPr algn="ctr"/>
            <a:r>
              <a:rPr lang="en-US" sz="1400" b="1" dirty="0"/>
              <a:t>Government Policy</a:t>
            </a:r>
          </a:p>
          <a:p>
            <a:pPr algn="ctr"/>
            <a:r>
              <a:rPr lang="en-US" sz="1400" dirty="0"/>
              <a:t>BTA can help users understand how policies relate to one another, preserving intent and context rather than presenting isolated policy excerpts.</a:t>
            </a:r>
          </a:p>
          <a:p>
            <a:pPr algn="ctr"/>
            <a:r>
              <a:rPr lang="en-US" sz="1400" b="1" dirty="0"/>
              <a:t>Educational Content</a:t>
            </a:r>
          </a:p>
          <a:p>
            <a:pPr algn="ctr"/>
            <a:r>
              <a:rPr lang="en-US" sz="1400" dirty="0"/>
              <a:t>BTA can guide learners through interconnected concepts in a progressive manner, helping understanding build naturally rather than through disconnected facts.</a:t>
            </a:r>
          </a:p>
          <a:p>
            <a:pPr algn="ctr"/>
            <a:r>
              <a:rPr lang="en-US" sz="1400" b="1" dirty="0"/>
              <a:t>Enterprise Procedures</a:t>
            </a:r>
          </a:p>
          <a:p>
            <a:pPr algn="ctr"/>
            <a:r>
              <a:rPr lang="en-US" sz="1400" dirty="0"/>
              <a:t>BTA can coordinate policies, procedures, and organizational knowledge so employees understand both the process and the reasoning behind it.</a:t>
            </a:r>
          </a:p>
          <a:p>
            <a:pPr algn="ctr"/>
            <a:r>
              <a:rPr lang="en-US" sz="1400" b="1" dirty="0"/>
              <a:t>Transition Statement</a:t>
            </a:r>
          </a:p>
          <a:p>
            <a:pPr algn="ctr"/>
            <a:r>
              <a:rPr lang="en-US" sz="1400" dirty="0"/>
              <a:t>In every domain, information retrieval is only the first step.</a:t>
            </a:r>
          </a:p>
          <a:p>
            <a:pPr algn="ctr"/>
            <a:r>
              <a:rPr lang="en-US" sz="1400" dirty="0"/>
              <a:t>The larger challenge is helping users build understanding while preserving meaning, context, authority, and trust.</a:t>
            </a:r>
          </a:p>
          <a:p>
            <a:pPr algn="ctr">
              <a:buNone/>
            </a:pPr>
            <a:endParaRPr lang="en-US" sz="2200" dirty="0"/>
          </a:p>
        </p:txBody>
      </p:sp>
      <p:sp>
        <p:nvSpPr>
          <p:cNvPr id="2" name="Footer Placeholder 1">
            <a:extLst>
              <a:ext uri="{FF2B5EF4-FFF2-40B4-BE49-F238E27FC236}">
                <a16:creationId xmlns:a16="http://schemas.microsoft.com/office/drawing/2014/main" id="{5B695352-874F-42F5-AB8A-6EFC388C7359}"/>
              </a:ext>
            </a:extLst>
          </p:cNvPr>
          <p:cNvSpPr>
            <a:spLocks noGrp="1"/>
          </p:cNvSpPr>
          <p:nvPr>
            <p:ph type="ftr" sz="quarter" idx="11"/>
          </p:nvPr>
        </p:nvSpPr>
        <p:spPr>
          <a:xfrm>
            <a:off x="2298192" y="6492875"/>
            <a:ext cx="454761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0164742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B571D0-DE75-7C09-3892-3EA1AB7C990F}"/>
              </a:ext>
            </a:extLst>
          </p:cNvPr>
          <p:cNvSpPr>
            <a:spLocks noGrp="1"/>
          </p:cNvSpPr>
          <p:nvPr>
            <p:ph idx="1"/>
          </p:nvPr>
        </p:nvSpPr>
        <p:spPr>
          <a:xfrm>
            <a:off x="457200" y="566928"/>
            <a:ext cx="8229600" cy="5559235"/>
          </a:xfrm>
        </p:spPr>
        <p:txBody>
          <a:bodyPr>
            <a:normAutofit/>
          </a:bodyPr>
          <a:lstStyle/>
          <a:p>
            <a:pPr algn="ctr">
              <a:buNone/>
            </a:pPr>
            <a:r>
              <a:rPr lang="en-US" sz="2200" dirty="0"/>
              <a:t>What began as a Scripture engagement platform became an investigation into how AI systems can preserve meaning, continuity, authority, and trust while helping people navigate complex knowledge domains.</a:t>
            </a:r>
          </a:p>
          <a:p>
            <a:pPr algn="ctr">
              <a:buNone/>
            </a:pPr>
            <a:endParaRPr lang="en-US" sz="2200" dirty="0"/>
          </a:p>
          <a:p>
            <a:pPr algn="ctr">
              <a:buNone/>
            </a:pPr>
            <a:r>
              <a:rPr lang="en-US" sz="2200" dirty="0"/>
              <a:t>The result was the emergence of a broader architectural concept:</a:t>
            </a:r>
          </a:p>
          <a:p>
            <a:pPr algn="ctr">
              <a:buNone/>
            </a:pPr>
            <a:endParaRPr lang="en-US" sz="2200" b="1" dirty="0"/>
          </a:p>
          <a:p>
            <a:pPr algn="ctr">
              <a:buNone/>
            </a:pPr>
            <a:r>
              <a:rPr lang="en-US" sz="2200" b="1" dirty="0"/>
              <a:t>Governed Semantic Orchestration</a:t>
            </a:r>
          </a:p>
          <a:p>
            <a:pPr algn="ctr">
              <a:buNone/>
            </a:pPr>
            <a:r>
              <a:rPr lang="en-US" sz="2200" dirty="0"/>
              <a:t>An approach designed not merely to retrieve information, but to coordinate understanding.</a:t>
            </a:r>
          </a:p>
          <a:p>
            <a:pPr algn="ctr">
              <a:buNone/>
            </a:pPr>
            <a:br>
              <a:rPr lang="en-US" sz="2200" dirty="0"/>
            </a:br>
            <a:r>
              <a:rPr lang="en-US" sz="2200" b="1" dirty="0"/>
              <a:t>The discovery was not that BTA needed a better Bible search engine. The discovery was that AI lacked a reliable way to preserve meaning as understanding unfolds.</a:t>
            </a:r>
            <a:endParaRPr lang="en-US" sz="2200" dirty="0"/>
          </a:p>
          <a:p>
            <a:endParaRPr lang="en-US" dirty="0"/>
          </a:p>
        </p:txBody>
      </p:sp>
      <p:sp>
        <p:nvSpPr>
          <p:cNvPr id="2" name="Footer Placeholder 1">
            <a:extLst>
              <a:ext uri="{FF2B5EF4-FFF2-40B4-BE49-F238E27FC236}">
                <a16:creationId xmlns:a16="http://schemas.microsoft.com/office/drawing/2014/main" id="{AB33776B-4AA9-0A9A-0542-09CBCA3E12DE}"/>
              </a:ext>
            </a:extLst>
          </p:cNvPr>
          <p:cNvSpPr>
            <a:spLocks noGrp="1"/>
          </p:cNvSpPr>
          <p:nvPr>
            <p:ph type="ftr" sz="quarter" idx="11"/>
          </p:nvPr>
        </p:nvSpPr>
        <p:spPr>
          <a:xfrm>
            <a:off x="2831592" y="6291072"/>
            <a:ext cx="420014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5388994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A27912-EA48-774C-2373-8C208685E731}"/>
              </a:ext>
            </a:extLst>
          </p:cNvPr>
          <p:cNvSpPr>
            <a:spLocks noGrp="1"/>
          </p:cNvSpPr>
          <p:nvPr>
            <p:ph type="title"/>
          </p:nvPr>
        </p:nvSpPr>
        <p:spPr/>
        <p:txBody>
          <a:bodyPr/>
          <a:lstStyle/>
          <a:p>
            <a:r>
              <a:rPr lang="en-US" dirty="0"/>
              <a:t>Why BTA Is the Proving Ground</a:t>
            </a:r>
          </a:p>
        </p:txBody>
      </p:sp>
      <p:sp>
        <p:nvSpPr>
          <p:cNvPr id="3" name="Content Placeholder 2">
            <a:extLst>
              <a:ext uri="{FF2B5EF4-FFF2-40B4-BE49-F238E27FC236}">
                <a16:creationId xmlns:a16="http://schemas.microsoft.com/office/drawing/2014/main" id="{ABF90395-3615-4AB5-F874-3AAF1E6F32C5}"/>
              </a:ext>
            </a:extLst>
          </p:cNvPr>
          <p:cNvSpPr>
            <a:spLocks noGrp="1"/>
          </p:cNvSpPr>
          <p:nvPr>
            <p:ph idx="1"/>
          </p:nvPr>
        </p:nvSpPr>
        <p:spPr>
          <a:xfrm>
            <a:off x="201168" y="1166018"/>
            <a:ext cx="8641080" cy="5518246"/>
          </a:xfrm>
        </p:spPr>
        <p:txBody>
          <a:bodyPr>
            <a:noAutofit/>
          </a:bodyPr>
          <a:lstStyle/>
          <a:p>
            <a:pPr marL="0" indent="0">
              <a:buNone/>
            </a:pPr>
            <a:r>
              <a:rPr lang="en-US" sz="2000" b="1" dirty="0"/>
              <a:t>It contains:</a:t>
            </a:r>
          </a:p>
          <a:p>
            <a:r>
              <a:rPr lang="en-US" sz="1400" dirty="0"/>
              <a:t>Multiple authors </a:t>
            </a:r>
          </a:p>
          <a:p>
            <a:r>
              <a:rPr lang="en-US" sz="1400" dirty="0"/>
              <a:t>Multiple historical periods </a:t>
            </a:r>
          </a:p>
          <a:p>
            <a:r>
              <a:rPr lang="en-US" sz="1400" dirty="0"/>
              <a:t>Multiple translations </a:t>
            </a:r>
          </a:p>
          <a:p>
            <a:r>
              <a:rPr lang="en-US" sz="1400" dirty="0"/>
              <a:t>Cross-references spanning centuries </a:t>
            </a:r>
          </a:p>
          <a:p>
            <a:r>
              <a:rPr lang="en-US" sz="1400" dirty="0"/>
              <a:t>Context-dependent meaning </a:t>
            </a:r>
          </a:p>
          <a:p>
            <a:r>
              <a:rPr lang="en-US" sz="1400" dirty="0"/>
              <a:t>Layered relationships among concepts </a:t>
            </a:r>
          </a:p>
          <a:p>
            <a:r>
              <a:rPr lang="en-US" sz="1400" dirty="0"/>
              <a:t>These characteristics make Scripture an ideal environment for evaluating:</a:t>
            </a:r>
          </a:p>
          <a:p>
            <a:r>
              <a:rPr lang="en-US" sz="1400" dirty="0"/>
              <a:t>Semantic continuity </a:t>
            </a:r>
          </a:p>
          <a:p>
            <a:r>
              <a:rPr lang="en-US" sz="1400" dirty="0"/>
              <a:t>Meaning preservation </a:t>
            </a:r>
          </a:p>
          <a:p>
            <a:r>
              <a:rPr lang="en-US" sz="1400" dirty="0"/>
              <a:t>Context relationship coordination </a:t>
            </a:r>
          </a:p>
          <a:p>
            <a:r>
              <a:rPr lang="en-US" sz="1400" dirty="0"/>
              <a:t>Trust-centered AI interaction </a:t>
            </a:r>
          </a:p>
          <a:p>
            <a:r>
              <a:rPr lang="en-US" sz="1400" dirty="0"/>
              <a:t>Governed orchestration </a:t>
            </a:r>
          </a:p>
          <a:p>
            <a:pPr marL="0" indent="0">
              <a:buNone/>
            </a:pPr>
            <a:endParaRPr lang="en-US" sz="2000" b="1" dirty="0"/>
          </a:p>
          <a:p>
            <a:pPr marL="0" indent="0">
              <a:buNone/>
            </a:pPr>
            <a:r>
              <a:rPr lang="en-US" sz="2000" b="1" dirty="0"/>
              <a:t>Research Implication</a:t>
            </a:r>
          </a:p>
          <a:p>
            <a:r>
              <a:rPr lang="en-US" sz="1600" dirty="0"/>
              <a:t>If continuity can be preserved within a body of knowledge as complex as Scripture, the same orchestration principles may be transferable to healthcare, engineering, education, policy, compliance, and other knowledge-intensive domains.</a:t>
            </a:r>
          </a:p>
        </p:txBody>
      </p:sp>
      <p:sp>
        <p:nvSpPr>
          <p:cNvPr id="4" name="Footer Placeholder 3">
            <a:extLst>
              <a:ext uri="{FF2B5EF4-FFF2-40B4-BE49-F238E27FC236}">
                <a16:creationId xmlns:a16="http://schemas.microsoft.com/office/drawing/2014/main" id="{49C2F7C5-DBDD-CC83-7158-5FDCB65C4CEA}"/>
              </a:ext>
            </a:extLst>
          </p:cNvPr>
          <p:cNvSpPr>
            <a:spLocks noGrp="1"/>
          </p:cNvSpPr>
          <p:nvPr>
            <p:ph type="ftr" sz="quarter" idx="11"/>
          </p:nvPr>
        </p:nvSpPr>
        <p:spPr>
          <a:xfrm>
            <a:off x="2435352" y="6319139"/>
            <a:ext cx="427329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602073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Discovery</a:t>
            </a:r>
          </a:p>
        </p:txBody>
      </p:sp>
      <p:sp>
        <p:nvSpPr>
          <p:cNvPr id="3" name="Content Placeholder 2"/>
          <p:cNvSpPr>
            <a:spLocks noGrp="1"/>
          </p:cNvSpPr>
          <p:nvPr>
            <p:ph idx="1"/>
          </p:nvPr>
        </p:nvSpPr>
        <p:spPr>
          <a:xfrm>
            <a:off x="457200" y="2299717"/>
            <a:ext cx="8229600" cy="1399032"/>
          </a:xfrm>
        </p:spPr>
        <p:txBody>
          <a:bodyPr>
            <a:normAutofit/>
          </a:bodyPr>
          <a:lstStyle/>
          <a:p>
            <a:r>
              <a:rPr sz="2000" dirty="0"/>
              <a:t>During development, solving Scripture understanding required solving broader problems of semantic continuity, governance, explainability, and meaning preservation. This transformed BTA from an application into a platform opportunity.</a:t>
            </a:r>
          </a:p>
        </p:txBody>
      </p:sp>
      <p:sp>
        <p:nvSpPr>
          <p:cNvPr id="4" name="Footer Placeholder 3">
            <a:extLst>
              <a:ext uri="{FF2B5EF4-FFF2-40B4-BE49-F238E27FC236}">
                <a16:creationId xmlns:a16="http://schemas.microsoft.com/office/drawing/2014/main" id="{88241AE6-C375-5A69-1E6D-0368A6EB42EC}"/>
              </a:ext>
            </a:extLst>
          </p:cNvPr>
          <p:cNvSpPr>
            <a:spLocks noGrp="1"/>
          </p:cNvSpPr>
          <p:nvPr>
            <p:ph type="ftr" sz="quarter" idx="11"/>
          </p:nvPr>
        </p:nvSpPr>
        <p:spPr>
          <a:xfrm>
            <a:off x="2293620" y="6218237"/>
            <a:ext cx="4556760" cy="365125"/>
          </a:xfrm>
        </p:spPr>
        <p:txBody>
          <a:bodyPr/>
          <a:lstStyle/>
          <a:p>
            <a:r>
              <a:rPr lang="en-US" dirty="0"/>
              <a:t>BTA / TAD Concepts – PhD Review &amp; SBIR Exploration - Version 1</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Problem</a:t>
            </a:r>
          </a:p>
        </p:txBody>
      </p:sp>
      <p:sp>
        <p:nvSpPr>
          <p:cNvPr id="3" name="Content Placeholder 2"/>
          <p:cNvSpPr>
            <a:spLocks noGrp="1"/>
          </p:cNvSpPr>
          <p:nvPr>
            <p:ph idx="1"/>
          </p:nvPr>
        </p:nvSpPr>
        <p:spPr>
          <a:xfrm>
            <a:off x="640080" y="2327149"/>
            <a:ext cx="8229600" cy="1453896"/>
          </a:xfrm>
        </p:spPr>
        <p:txBody>
          <a:bodyPr>
            <a:normAutofit/>
          </a:bodyPr>
          <a:lstStyle/>
          <a:p>
            <a:r>
              <a:rPr sz="2000" dirty="0"/>
              <a:t>Most AI systems optimize retrieval and generation. Few preserve meaning over time. Hallucinations, semantic drift, fragmented reasoning, and context loss create risk in knowledge-intensive environments.</a:t>
            </a:r>
          </a:p>
        </p:txBody>
      </p:sp>
      <p:sp>
        <p:nvSpPr>
          <p:cNvPr id="4" name="Footer Placeholder 3">
            <a:extLst>
              <a:ext uri="{FF2B5EF4-FFF2-40B4-BE49-F238E27FC236}">
                <a16:creationId xmlns:a16="http://schemas.microsoft.com/office/drawing/2014/main" id="{A85E0462-2992-7530-60E6-78DAE27D09B8}"/>
              </a:ext>
            </a:extLst>
          </p:cNvPr>
          <p:cNvSpPr>
            <a:spLocks noGrp="1"/>
          </p:cNvSpPr>
          <p:nvPr>
            <p:ph type="ftr" sz="quarter" idx="11"/>
          </p:nvPr>
        </p:nvSpPr>
        <p:spPr>
          <a:xfrm>
            <a:off x="2334768" y="6218237"/>
            <a:ext cx="4474464" cy="365125"/>
          </a:xfrm>
        </p:spPr>
        <p:txBody>
          <a:bodyPr/>
          <a:lstStyle/>
          <a:p>
            <a:r>
              <a:rPr lang="en-US" dirty="0"/>
              <a:t>BTA / TAD Concepts – PhD Review &amp; SBIR Exploration - Version 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TAD Concepts Thesis</a:t>
            </a:r>
          </a:p>
        </p:txBody>
      </p:sp>
      <p:sp>
        <p:nvSpPr>
          <p:cNvPr id="3" name="Content Placeholder 2"/>
          <p:cNvSpPr>
            <a:spLocks noGrp="1"/>
          </p:cNvSpPr>
          <p:nvPr>
            <p:ph idx="1"/>
          </p:nvPr>
        </p:nvSpPr>
        <p:spPr>
          <a:xfrm>
            <a:off x="603504" y="2350009"/>
            <a:ext cx="8229600" cy="1225296"/>
          </a:xfrm>
        </p:spPr>
        <p:txBody>
          <a:bodyPr>
            <a:normAutofit/>
          </a:bodyPr>
          <a:lstStyle/>
          <a:p>
            <a:r>
              <a:rPr sz="2000" dirty="0"/>
              <a:t>The next generation of AI is not about larger models. It is about governed orchestration, trust preservation, semantic continuity, explainability, and knowledge coordination.</a:t>
            </a:r>
          </a:p>
        </p:txBody>
      </p:sp>
      <p:sp>
        <p:nvSpPr>
          <p:cNvPr id="4" name="Footer Placeholder 3">
            <a:extLst>
              <a:ext uri="{FF2B5EF4-FFF2-40B4-BE49-F238E27FC236}">
                <a16:creationId xmlns:a16="http://schemas.microsoft.com/office/drawing/2014/main" id="{C6582A4B-7E68-F5E5-5841-C02ACB122028}"/>
              </a:ext>
            </a:extLst>
          </p:cNvPr>
          <p:cNvSpPr>
            <a:spLocks noGrp="1"/>
          </p:cNvSpPr>
          <p:nvPr>
            <p:ph type="ftr" sz="quarter" idx="11"/>
          </p:nvPr>
        </p:nvSpPr>
        <p:spPr>
          <a:xfrm>
            <a:off x="2476500" y="6173787"/>
            <a:ext cx="4483608" cy="365125"/>
          </a:xfrm>
        </p:spPr>
        <p:txBody>
          <a:bodyPr/>
          <a:lstStyle/>
          <a:p>
            <a:r>
              <a:rPr lang="en-US" dirty="0"/>
              <a:t>BTA / TAD Concepts – PhD Review &amp; SBIR Exploration - Version 1</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BTA Is the Right Starting Point</a:t>
            </a:r>
          </a:p>
        </p:txBody>
      </p:sp>
      <p:sp>
        <p:nvSpPr>
          <p:cNvPr id="3" name="Content Placeholder 2"/>
          <p:cNvSpPr>
            <a:spLocks noGrp="1"/>
          </p:cNvSpPr>
          <p:nvPr>
            <p:ph idx="1"/>
          </p:nvPr>
        </p:nvSpPr>
        <p:spPr>
          <a:xfrm>
            <a:off x="457200" y="2642616"/>
            <a:ext cx="8229600" cy="1572768"/>
          </a:xfrm>
        </p:spPr>
        <p:txBody>
          <a:bodyPr>
            <a:normAutofit/>
          </a:bodyPr>
          <a:lstStyle/>
          <a:p>
            <a:r>
              <a:rPr sz="2000" dirty="0"/>
              <a:t>Scripture represents one of the most interconnected and meaning-rich bodies of knowledge. If continuity can be preserved here, the same principles may transfer to healthcare, engineering, education, and regulatory domains.</a:t>
            </a:r>
          </a:p>
        </p:txBody>
      </p:sp>
      <p:sp>
        <p:nvSpPr>
          <p:cNvPr id="4" name="Footer Placeholder 3">
            <a:extLst>
              <a:ext uri="{FF2B5EF4-FFF2-40B4-BE49-F238E27FC236}">
                <a16:creationId xmlns:a16="http://schemas.microsoft.com/office/drawing/2014/main" id="{019238A3-E8E5-9733-8A5F-2D60FAD9A7DD}"/>
              </a:ext>
            </a:extLst>
          </p:cNvPr>
          <p:cNvSpPr>
            <a:spLocks noGrp="1"/>
          </p:cNvSpPr>
          <p:nvPr>
            <p:ph type="ftr" sz="quarter" idx="11"/>
          </p:nvPr>
        </p:nvSpPr>
        <p:spPr>
          <a:xfrm>
            <a:off x="2503932" y="6218237"/>
            <a:ext cx="4136136" cy="365125"/>
          </a:xfrm>
        </p:spPr>
        <p:txBody>
          <a:bodyPr/>
          <a:lstStyle/>
          <a:p>
            <a:r>
              <a:rPr lang="en-US" dirty="0"/>
              <a:t>BTA / TAD Concepts – PhD Review &amp; SBIR Exploration - Version 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Music Principle</a:t>
            </a:r>
          </a:p>
        </p:txBody>
      </p:sp>
      <p:sp>
        <p:nvSpPr>
          <p:cNvPr id="3" name="Content Placeholder 2"/>
          <p:cNvSpPr>
            <a:spLocks noGrp="1"/>
          </p:cNvSpPr>
          <p:nvPr>
            <p:ph idx="1"/>
          </p:nvPr>
        </p:nvSpPr>
        <p:spPr>
          <a:xfrm>
            <a:off x="457200" y="2350009"/>
            <a:ext cx="8229600" cy="1499616"/>
          </a:xfrm>
        </p:spPr>
        <p:txBody>
          <a:bodyPr>
            <a:normAutofit/>
          </a:bodyPr>
          <a:lstStyle/>
          <a:p>
            <a:r>
              <a:rPr sz="2000" dirty="0"/>
              <a:t>Meaning emerges through relationships among concepts just as music emerges through relationships among notes. BTA preserves semantic continuity rather than treating information as isolated fragments.</a:t>
            </a:r>
          </a:p>
        </p:txBody>
      </p:sp>
      <p:sp>
        <p:nvSpPr>
          <p:cNvPr id="4" name="Footer Placeholder 3">
            <a:extLst>
              <a:ext uri="{FF2B5EF4-FFF2-40B4-BE49-F238E27FC236}">
                <a16:creationId xmlns:a16="http://schemas.microsoft.com/office/drawing/2014/main" id="{55F62927-B419-C2F1-2FB9-95C02C9F2182}"/>
              </a:ext>
            </a:extLst>
          </p:cNvPr>
          <p:cNvSpPr>
            <a:spLocks noGrp="1"/>
          </p:cNvSpPr>
          <p:nvPr>
            <p:ph type="ftr" sz="quarter" idx="11"/>
          </p:nvPr>
        </p:nvSpPr>
        <p:spPr>
          <a:xfrm>
            <a:off x="2453640" y="6218237"/>
            <a:ext cx="4236720" cy="365125"/>
          </a:xfrm>
        </p:spPr>
        <p:txBody>
          <a:bodyPr/>
          <a:lstStyle/>
          <a:p>
            <a:r>
              <a:rPr lang="en-US" dirty="0"/>
              <a:t>BTA / TAD Concepts – PhD Review &amp; SBIR Exploration - Version 1</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Governed Semantic Orchestration</a:t>
            </a:r>
          </a:p>
        </p:txBody>
      </p:sp>
      <p:sp>
        <p:nvSpPr>
          <p:cNvPr id="3" name="Content Placeholder 2"/>
          <p:cNvSpPr>
            <a:spLocks noGrp="1"/>
          </p:cNvSpPr>
          <p:nvPr>
            <p:ph idx="1"/>
          </p:nvPr>
        </p:nvSpPr>
        <p:spPr>
          <a:xfrm>
            <a:off x="457200" y="2340865"/>
            <a:ext cx="8229600" cy="1344168"/>
          </a:xfrm>
        </p:spPr>
        <p:txBody>
          <a:bodyPr>
            <a:normAutofit/>
          </a:bodyPr>
          <a:lstStyle/>
          <a:p>
            <a:r>
              <a:rPr sz="2000" dirty="0"/>
              <a:t>BTA governs how understanding unfolds through a centralized orchestration layer that coordinates summary, context, reflection, commentary, and future semantic layers.</a:t>
            </a:r>
          </a:p>
        </p:txBody>
      </p:sp>
      <p:sp>
        <p:nvSpPr>
          <p:cNvPr id="4" name="Footer Placeholder 3">
            <a:extLst>
              <a:ext uri="{FF2B5EF4-FFF2-40B4-BE49-F238E27FC236}">
                <a16:creationId xmlns:a16="http://schemas.microsoft.com/office/drawing/2014/main" id="{D1CF05C2-E455-193D-3CAD-4C299D207E3C}"/>
              </a:ext>
            </a:extLst>
          </p:cNvPr>
          <p:cNvSpPr>
            <a:spLocks noGrp="1"/>
          </p:cNvSpPr>
          <p:nvPr>
            <p:ph type="ftr" sz="quarter" idx="11"/>
          </p:nvPr>
        </p:nvSpPr>
        <p:spPr>
          <a:xfrm>
            <a:off x="2471928" y="6173787"/>
            <a:ext cx="4200144" cy="365125"/>
          </a:xfrm>
        </p:spPr>
        <p:txBody>
          <a:bodyPr/>
          <a:lstStyle/>
          <a:p>
            <a:r>
              <a:rPr lang="en-US" dirty="0"/>
              <a:t>BTA / TAD Concepts – PhD Review &amp; SBIR Exploration - Version 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Scientific Value</a:t>
            </a:r>
          </a:p>
        </p:txBody>
      </p:sp>
      <p:sp>
        <p:nvSpPr>
          <p:cNvPr id="3" name="Content Placeholder 2"/>
          <p:cNvSpPr>
            <a:spLocks noGrp="1"/>
          </p:cNvSpPr>
          <p:nvPr>
            <p:ph idx="1"/>
          </p:nvPr>
        </p:nvSpPr>
        <p:spPr>
          <a:xfrm>
            <a:off x="457200" y="2281429"/>
            <a:ext cx="8229600" cy="1362456"/>
          </a:xfrm>
        </p:spPr>
        <p:txBody>
          <a:bodyPr>
            <a:normAutofit/>
          </a:bodyPr>
          <a:lstStyle/>
          <a:p>
            <a:r>
              <a:rPr sz="2000" dirty="0"/>
              <a:t>Research opportunities include Semantic Continuity Theory, Governed Orchestration Models, Semantic Bridge Research, Human-Centered Knowledge Navigation, and Trustworthy AI.</a:t>
            </a:r>
          </a:p>
        </p:txBody>
      </p:sp>
      <p:sp>
        <p:nvSpPr>
          <p:cNvPr id="4" name="Footer Placeholder 3">
            <a:extLst>
              <a:ext uri="{FF2B5EF4-FFF2-40B4-BE49-F238E27FC236}">
                <a16:creationId xmlns:a16="http://schemas.microsoft.com/office/drawing/2014/main" id="{A293B3FB-649D-B220-9ABB-8B2853FA0438}"/>
              </a:ext>
            </a:extLst>
          </p:cNvPr>
          <p:cNvSpPr>
            <a:spLocks noGrp="1"/>
          </p:cNvSpPr>
          <p:nvPr>
            <p:ph type="ftr" sz="quarter" idx="11"/>
          </p:nvPr>
        </p:nvSpPr>
        <p:spPr>
          <a:xfrm>
            <a:off x="2243328" y="6100318"/>
            <a:ext cx="4657344" cy="365125"/>
          </a:xfrm>
        </p:spPr>
        <p:txBody>
          <a:bodyPr/>
          <a:lstStyle/>
          <a:p>
            <a:r>
              <a:rPr lang="en-US" dirty="0"/>
              <a:t>BTA / TAD Concepts – PhD Review &amp; SBIR Exploration - Version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Current Accomplishments</a:t>
            </a:r>
          </a:p>
        </p:txBody>
      </p:sp>
      <p:sp>
        <p:nvSpPr>
          <p:cNvPr id="3" name="Content Placeholder 2"/>
          <p:cNvSpPr>
            <a:spLocks noGrp="1"/>
          </p:cNvSpPr>
          <p:nvPr>
            <p:ph idx="1"/>
          </p:nvPr>
        </p:nvSpPr>
        <p:spPr>
          <a:xfrm>
            <a:off x="292608" y="1467612"/>
            <a:ext cx="8229600" cy="5115750"/>
          </a:xfrm>
        </p:spPr>
        <p:txBody>
          <a:bodyPr>
            <a:normAutofit/>
          </a:bodyPr>
          <a:lstStyle/>
          <a:p>
            <a:r>
              <a:rPr lang="en-US" sz="2000" b="1" dirty="0"/>
              <a:t>Foundational Architecture Already Established</a:t>
            </a:r>
          </a:p>
          <a:p>
            <a:r>
              <a:rPr lang="en-US" sz="2000" b="1" dirty="0"/>
              <a:t>Governed Semantic Orchestration</a:t>
            </a:r>
          </a:p>
          <a:p>
            <a:r>
              <a:rPr lang="en-US" sz="2000" dirty="0"/>
              <a:t>Designed and implemented a centralized orchestration model that coordinates all downstream knowledge interactions while maintaining semantic continuity and governance boundaries.</a:t>
            </a:r>
          </a:p>
          <a:p>
            <a:r>
              <a:rPr lang="en-US" sz="2000" b="1" dirty="0"/>
              <a:t>Constitutional Governance Framework</a:t>
            </a:r>
          </a:p>
          <a:p>
            <a:r>
              <a:rPr lang="en-US" sz="2000" dirty="0"/>
              <a:t>Established constitutional controls governing orchestration authority, semantic boundaries, drift intervention, source authority protection, and layer separation to support trustworthy AI behavior.</a:t>
            </a:r>
          </a:p>
          <a:p>
            <a:r>
              <a:rPr lang="en-US" sz="2000" b="1" dirty="0"/>
              <a:t>Semantic Layer Architecture</a:t>
            </a:r>
          </a:p>
          <a:p>
            <a:r>
              <a:rPr lang="en-US" sz="2000" dirty="0"/>
              <a:t>Designed and implemented coordinated Summary, Context, Personal Reflection, and Commentary domains that inherit from a shared semantic foundation rather than operating as isolated generators.</a:t>
            </a:r>
          </a:p>
          <a:p>
            <a:endParaRPr sz="2000" dirty="0"/>
          </a:p>
        </p:txBody>
      </p:sp>
      <p:sp>
        <p:nvSpPr>
          <p:cNvPr id="4" name="Footer Placeholder 3">
            <a:extLst>
              <a:ext uri="{FF2B5EF4-FFF2-40B4-BE49-F238E27FC236}">
                <a16:creationId xmlns:a16="http://schemas.microsoft.com/office/drawing/2014/main" id="{A9B1F189-6074-62D3-B884-98EEE0AEC7AC}"/>
              </a:ext>
            </a:extLst>
          </p:cNvPr>
          <p:cNvSpPr>
            <a:spLocks noGrp="1"/>
          </p:cNvSpPr>
          <p:nvPr>
            <p:ph type="ftr" sz="quarter" idx="11"/>
          </p:nvPr>
        </p:nvSpPr>
        <p:spPr>
          <a:xfrm>
            <a:off x="2485644" y="6306057"/>
            <a:ext cx="4172712" cy="365125"/>
          </a:xfrm>
        </p:spPr>
        <p:txBody>
          <a:bodyPr/>
          <a:lstStyle/>
          <a:p>
            <a:r>
              <a:rPr lang="en-US" dirty="0"/>
              <a:t>BTA / TAD Concepts – PhD Review &amp; SBIR Exploration - Version 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F7AB58-4FEC-068A-B437-5CC6478789EB}"/>
              </a:ext>
            </a:extLst>
          </p:cNvPr>
          <p:cNvSpPr>
            <a:spLocks noGrp="1"/>
          </p:cNvSpPr>
          <p:nvPr>
            <p:ph idx="1"/>
          </p:nvPr>
        </p:nvSpPr>
        <p:spPr>
          <a:xfrm>
            <a:off x="356616" y="320040"/>
            <a:ext cx="8595360" cy="6291072"/>
          </a:xfrm>
        </p:spPr>
        <p:txBody>
          <a:bodyPr>
            <a:normAutofit/>
          </a:bodyPr>
          <a:lstStyle/>
          <a:p>
            <a:r>
              <a:rPr lang="en-US" sz="2000" b="1" dirty="0"/>
              <a:t>Meaning-Centered Interaction Model</a:t>
            </a:r>
          </a:p>
          <a:p>
            <a:r>
              <a:rPr lang="en-US" sz="2000" dirty="0"/>
              <a:t>Developed the Music Principle and semantic continuity concepts to preserve relationships among ideas and support progressive understanding rather than isolated information retrieval.</a:t>
            </a:r>
          </a:p>
          <a:p>
            <a:r>
              <a:rPr lang="en-US" sz="2000" b="1" dirty="0"/>
              <a:t>Context Relationship Coordination</a:t>
            </a:r>
          </a:p>
          <a:p>
            <a:r>
              <a:rPr lang="en-US" sz="2000" dirty="0"/>
              <a:t>Designed a context architecture capable of coordinating surrounding passages, historical relationships, compositional relationships, and future multi-translation continuity while remaining subordinate to orchestration authority.</a:t>
            </a:r>
          </a:p>
          <a:p>
            <a:r>
              <a:rPr lang="en-US" sz="2000" b="1" dirty="0"/>
              <a:t>Multi-Translation Governance Architecture</a:t>
            </a:r>
          </a:p>
          <a:p>
            <a:r>
              <a:rPr lang="en-US" sz="2000" dirty="0"/>
              <a:t>Established the governance, registry, persistence, and orchestration foundations required to support multiple Bible translations while preserving continuity and source integrity.</a:t>
            </a:r>
          </a:p>
          <a:p>
            <a:r>
              <a:rPr lang="en-US" sz="2000" b="1" dirty="0"/>
              <a:t>Deterministic Query Orchestration</a:t>
            </a:r>
          </a:p>
          <a:p>
            <a:r>
              <a:rPr lang="en-US" sz="2000" dirty="0"/>
              <a:t>Implemented a controlled orchestration model that governs how queries are processed, interpreted, and routed across the platform while maintaining explainability and reducing semantic drift.</a:t>
            </a:r>
          </a:p>
          <a:p>
            <a:endParaRPr lang="en-US" sz="2000" dirty="0"/>
          </a:p>
          <a:p>
            <a:endParaRPr lang="en-US" dirty="0"/>
          </a:p>
          <a:p>
            <a:endParaRPr lang="en-US" dirty="0"/>
          </a:p>
        </p:txBody>
      </p:sp>
      <p:sp>
        <p:nvSpPr>
          <p:cNvPr id="2" name="Footer Placeholder 1">
            <a:extLst>
              <a:ext uri="{FF2B5EF4-FFF2-40B4-BE49-F238E27FC236}">
                <a16:creationId xmlns:a16="http://schemas.microsoft.com/office/drawing/2014/main" id="{60D3964F-E6FB-2BC2-59E7-C91813AAC1EF}"/>
              </a:ext>
            </a:extLst>
          </p:cNvPr>
          <p:cNvSpPr>
            <a:spLocks noGrp="1"/>
          </p:cNvSpPr>
          <p:nvPr>
            <p:ph type="ftr" sz="quarter" idx="11"/>
          </p:nvPr>
        </p:nvSpPr>
        <p:spPr>
          <a:xfrm>
            <a:off x="2407920" y="6355397"/>
            <a:ext cx="432816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7414834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33CBD-A373-EE70-956E-BA24FE4DAF47}"/>
              </a:ext>
            </a:extLst>
          </p:cNvPr>
          <p:cNvSpPr>
            <a:spLocks noGrp="1"/>
          </p:cNvSpPr>
          <p:nvPr>
            <p:ph idx="1"/>
          </p:nvPr>
        </p:nvSpPr>
        <p:spPr>
          <a:xfrm>
            <a:off x="182880" y="365760"/>
            <a:ext cx="8677656" cy="6245352"/>
          </a:xfrm>
        </p:spPr>
        <p:txBody>
          <a:bodyPr>
            <a:normAutofit fontScale="92500" lnSpcReduction="10000"/>
          </a:bodyPr>
          <a:lstStyle/>
          <a:p>
            <a:r>
              <a:rPr lang="en-US" sz="2000" b="1" dirty="0"/>
              <a:t>Commentary Boundary Framework</a:t>
            </a:r>
          </a:p>
          <a:p>
            <a:r>
              <a:rPr lang="en-US" sz="2000" dirty="0"/>
              <a:t>Created a separation model that allows future scholarly commentary participation without allowing external interpretation to override meaning emerging from the source text.</a:t>
            </a:r>
          </a:p>
          <a:p>
            <a:r>
              <a:rPr lang="en-US" sz="2000" b="1" dirty="0"/>
              <a:t>Runtime Governance Controls</a:t>
            </a:r>
          </a:p>
          <a:p>
            <a:r>
              <a:rPr lang="en-US" sz="2000" dirty="0"/>
              <a:t>Established drift detection, governance validation, orchestration safeguards, and architectural controls intended to support long-term platform stability and trustworthiness.</a:t>
            </a:r>
          </a:p>
          <a:p>
            <a:r>
              <a:rPr lang="en-US" sz="2000" b="1" dirty="0"/>
              <a:t>Domain Independence Emerging</a:t>
            </a:r>
          </a:p>
          <a:p>
            <a:r>
              <a:rPr lang="en-US" sz="2000" dirty="0"/>
              <a:t>Demonstrated that the orchestration architecture can be separated from the underlying knowledge corpus, creating a foundation for future applications beyond Scripture.</a:t>
            </a:r>
          </a:p>
          <a:p>
            <a:r>
              <a:rPr lang="en-US" sz="2000" dirty="0"/>
              <a:t>Potential future domains include:</a:t>
            </a:r>
          </a:p>
          <a:p>
            <a:r>
              <a:rPr lang="en-US" sz="2000" dirty="0"/>
              <a:t>Healthcare </a:t>
            </a:r>
          </a:p>
          <a:p>
            <a:r>
              <a:rPr lang="en-US" sz="2000" dirty="0"/>
              <a:t>OSHA </a:t>
            </a:r>
          </a:p>
          <a:p>
            <a:r>
              <a:rPr lang="en-US" sz="2000" dirty="0"/>
              <a:t>NEC </a:t>
            </a:r>
          </a:p>
          <a:p>
            <a:r>
              <a:rPr lang="en-US" sz="2000" dirty="0"/>
              <a:t>Education </a:t>
            </a:r>
          </a:p>
          <a:p>
            <a:r>
              <a:rPr lang="en-US" sz="2000" dirty="0"/>
              <a:t>Government Policy </a:t>
            </a:r>
          </a:p>
          <a:p>
            <a:r>
              <a:rPr lang="en-US" sz="2000" dirty="0"/>
              <a:t>Enterprise Knowledge Systems</a:t>
            </a:r>
          </a:p>
          <a:p>
            <a:endParaRPr lang="en-US" sz="2000" dirty="0"/>
          </a:p>
          <a:p>
            <a:endParaRPr lang="en-US" dirty="0"/>
          </a:p>
        </p:txBody>
      </p:sp>
      <p:sp>
        <p:nvSpPr>
          <p:cNvPr id="2" name="Footer Placeholder 1">
            <a:extLst>
              <a:ext uri="{FF2B5EF4-FFF2-40B4-BE49-F238E27FC236}">
                <a16:creationId xmlns:a16="http://schemas.microsoft.com/office/drawing/2014/main" id="{9D05901A-75D0-BC0B-FE4B-793D83BAA838}"/>
              </a:ext>
            </a:extLst>
          </p:cNvPr>
          <p:cNvSpPr>
            <a:spLocks noGrp="1"/>
          </p:cNvSpPr>
          <p:nvPr>
            <p:ph type="ftr" sz="quarter" idx="11"/>
          </p:nvPr>
        </p:nvSpPr>
        <p:spPr>
          <a:xfrm>
            <a:off x="2407920" y="6245987"/>
            <a:ext cx="4227576"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17840204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F56C0D-1F2F-0355-A18B-446A6925F7FA}"/>
              </a:ext>
            </a:extLst>
          </p:cNvPr>
          <p:cNvSpPr>
            <a:spLocks noGrp="1"/>
          </p:cNvSpPr>
          <p:nvPr>
            <p:ph idx="1"/>
          </p:nvPr>
        </p:nvSpPr>
        <p:spPr>
          <a:xfrm>
            <a:off x="246888" y="2336292"/>
            <a:ext cx="8513064" cy="2185416"/>
          </a:xfrm>
        </p:spPr>
        <p:txBody>
          <a:bodyPr/>
          <a:lstStyle/>
          <a:p>
            <a:r>
              <a:rPr lang="en-US" sz="2000" dirty="0"/>
              <a:t>The project has progressed beyond conceptual design and now contains a substantial body of architectural, governance, orchestration, semantic continuity, and implementation work that may serve as the foundation for future research, commercialization, and NSF SBIR exploration.</a:t>
            </a:r>
          </a:p>
          <a:p>
            <a:endParaRPr lang="en-US" dirty="0"/>
          </a:p>
        </p:txBody>
      </p:sp>
      <p:sp>
        <p:nvSpPr>
          <p:cNvPr id="4" name="Title 1">
            <a:extLst>
              <a:ext uri="{FF2B5EF4-FFF2-40B4-BE49-F238E27FC236}">
                <a16:creationId xmlns:a16="http://schemas.microsoft.com/office/drawing/2014/main" id="{E7F84AEF-0909-FE34-6C63-6E8EECAC91F2}"/>
              </a:ext>
            </a:extLst>
          </p:cNvPr>
          <p:cNvSpPr>
            <a:spLocks noGrp="1"/>
          </p:cNvSpPr>
          <p:nvPr>
            <p:ph type="title"/>
          </p:nvPr>
        </p:nvSpPr>
        <p:spPr>
          <a:xfrm>
            <a:off x="457200" y="274638"/>
            <a:ext cx="8229600" cy="1143000"/>
          </a:xfrm>
        </p:spPr>
        <p:txBody>
          <a:bodyPr>
            <a:normAutofit/>
          </a:bodyPr>
          <a:lstStyle/>
          <a:p>
            <a:r>
              <a:rPr lang="en-US" b="1" dirty="0"/>
              <a:t>Current Status</a:t>
            </a:r>
            <a:endParaRPr dirty="0"/>
          </a:p>
        </p:txBody>
      </p:sp>
      <p:sp>
        <p:nvSpPr>
          <p:cNvPr id="2" name="Footer Placeholder 1">
            <a:extLst>
              <a:ext uri="{FF2B5EF4-FFF2-40B4-BE49-F238E27FC236}">
                <a16:creationId xmlns:a16="http://schemas.microsoft.com/office/drawing/2014/main" id="{3D413C67-C4C6-DAC1-BEB3-B459E23209C5}"/>
              </a:ext>
            </a:extLst>
          </p:cNvPr>
          <p:cNvSpPr>
            <a:spLocks noGrp="1"/>
          </p:cNvSpPr>
          <p:nvPr>
            <p:ph type="ftr" sz="quarter" idx="11"/>
          </p:nvPr>
        </p:nvSpPr>
        <p:spPr>
          <a:xfrm>
            <a:off x="2310384" y="6219507"/>
            <a:ext cx="423672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479811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NSF Alignment</a:t>
            </a:r>
          </a:p>
        </p:txBody>
      </p:sp>
      <p:sp>
        <p:nvSpPr>
          <p:cNvPr id="3" name="Content Placeholder 2"/>
          <p:cNvSpPr>
            <a:spLocks noGrp="1"/>
          </p:cNvSpPr>
          <p:nvPr>
            <p:ph idx="1"/>
          </p:nvPr>
        </p:nvSpPr>
        <p:spPr>
          <a:xfrm>
            <a:off x="457200" y="2459737"/>
            <a:ext cx="8229600" cy="1344168"/>
          </a:xfrm>
        </p:spPr>
        <p:txBody>
          <a:bodyPr>
            <a:normAutofit/>
          </a:bodyPr>
          <a:lstStyle/>
          <a:p>
            <a:r>
              <a:rPr sz="2000" dirty="0"/>
              <a:t>Strong alignment with Trustworthy AI, Explainable AI, Human-Centered AI, Semantic Reasoning, AI Governance, Knowledge Systems, and Multilingual Semantic Continuity.</a:t>
            </a:r>
          </a:p>
        </p:txBody>
      </p:sp>
      <p:sp>
        <p:nvSpPr>
          <p:cNvPr id="4" name="Footer Placeholder 3">
            <a:extLst>
              <a:ext uri="{FF2B5EF4-FFF2-40B4-BE49-F238E27FC236}">
                <a16:creationId xmlns:a16="http://schemas.microsoft.com/office/drawing/2014/main" id="{0F78C9F9-66BC-D2A8-78C1-8220CE86CE43}"/>
              </a:ext>
            </a:extLst>
          </p:cNvPr>
          <p:cNvSpPr>
            <a:spLocks noGrp="1"/>
          </p:cNvSpPr>
          <p:nvPr>
            <p:ph type="ftr" sz="quarter" idx="11"/>
          </p:nvPr>
        </p:nvSpPr>
        <p:spPr>
          <a:xfrm>
            <a:off x="2412492" y="6400799"/>
            <a:ext cx="4319016" cy="365125"/>
          </a:xfrm>
        </p:spPr>
        <p:txBody>
          <a:bodyPr/>
          <a:lstStyle/>
          <a:p>
            <a:r>
              <a:rPr lang="en-US" dirty="0"/>
              <a:t>BTA / TAD Concepts – PhD Review &amp; SBIR Exploration - Version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Commercialization Vision</a:t>
            </a:r>
          </a:p>
        </p:txBody>
      </p:sp>
      <p:sp>
        <p:nvSpPr>
          <p:cNvPr id="3" name="Content Placeholder 2"/>
          <p:cNvSpPr>
            <a:spLocks noGrp="1"/>
          </p:cNvSpPr>
          <p:nvPr>
            <p:ph idx="1"/>
          </p:nvPr>
        </p:nvSpPr>
        <p:spPr>
          <a:xfrm>
            <a:off x="457200" y="2724912"/>
            <a:ext cx="8229600" cy="1408176"/>
          </a:xfrm>
        </p:spPr>
        <p:txBody>
          <a:bodyPr>
            <a:normAutofit/>
          </a:bodyPr>
          <a:lstStyle/>
          <a:p>
            <a:r>
              <a:rPr sz="2000" dirty="0"/>
              <a:t>Organizations spend billions on training, compliance, onboarding, knowledge management, and policy interpretation. The opportunity is transforming static information into governed understanding.</a:t>
            </a:r>
          </a:p>
        </p:txBody>
      </p:sp>
      <p:sp>
        <p:nvSpPr>
          <p:cNvPr id="4" name="Footer Placeholder 3">
            <a:extLst>
              <a:ext uri="{FF2B5EF4-FFF2-40B4-BE49-F238E27FC236}">
                <a16:creationId xmlns:a16="http://schemas.microsoft.com/office/drawing/2014/main" id="{6417BBF1-7655-28EC-5932-DC49424BB43E}"/>
              </a:ext>
            </a:extLst>
          </p:cNvPr>
          <p:cNvSpPr>
            <a:spLocks noGrp="1"/>
          </p:cNvSpPr>
          <p:nvPr>
            <p:ph type="ftr" sz="quarter" idx="11"/>
          </p:nvPr>
        </p:nvSpPr>
        <p:spPr>
          <a:xfrm>
            <a:off x="2471928" y="6283198"/>
            <a:ext cx="4200144" cy="365125"/>
          </a:xfrm>
        </p:spPr>
        <p:txBody>
          <a:bodyPr/>
          <a:lstStyle/>
          <a:p>
            <a:r>
              <a:rPr lang="en-US" dirty="0"/>
              <a:t>BTA / TAD Concepts – PhD Review &amp; SBIR Exploration - Version 1</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1: BTA Market</a:t>
            </a:r>
          </a:p>
        </p:txBody>
      </p:sp>
      <p:sp>
        <p:nvSpPr>
          <p:cNvPr id="3" name="Content Placeholder 2"/>
          <p:cNvSpPr>
            <a:spLocks noGrp="1"/>
          </p:cNvSpPr>
          <p:nvPr>
            <p:ph idx="1"/>
          </p:nvPr>
        </p:nvSpPr>
        <p:spPr>
          <a:xfrm>
            <a:off x="530352" y="2743201"/>
            <a:ext cx="8229600" cy="1280160"/>
          </a:xfrm>
        </p:spPr>
        <p:txBody>
          <a:bodyPr>
            <a:normAutofit/>
          </a:bodyPr>
          <a:lstStyle/>
          <a:p>
            <a:r>
              <a:rPr sz="2000" dirty="0"/>
              <a:t>Faith-based market opportunity. Illustrative range: </a:t>
            </a:r>
            <a:r>
              <a:rPr sz="2000" b="1" u="sng" dirty="0"/>
              <a:t>$5M–$25M ARR </a:t>
            </a:r>
            <a:r>
              <a:rPr sz="2000" dirty="0"/>
              <a:t>through churches, ministries, Christian education, premium content, and licensing.</a:t>
            </a:r>
          </a:p>
        </p:txBody>
      </p:sp>
      <p:sp>
        <p:nvSpPr>
          <p:cNvPr id="4" name="Footer Placeholder 3">
            <a:extLst>
              <a:ext uri="{FF2B5EF4-FFF2-40B4-BE49-F238E27FC236}">
                <a16:creationId xmlns:a16="http://schemas.microsoft.com/office/drawing/2014/main" id="{CFEE09B6-783A-48D2-E79C-D1EC49F68959}"/>
              </a:ext>
            </a:extLst>
          </p:cNvPr>
          <p:cNvSpPr>
            <a:spLocks noGrp="1"/>
          </p:cNvSpPr>
          <p:nvPr>
            <p:ph type="ftr" sz="quarter" idx="11"/>
          </p:nvPr>
        </p:nvSpPr>
        <p:spPr>
          <a:xfrm>
            <a:off x="2499360" y="6356350"/>
            <a:ext cx="4291584" cy="365125"/>
          </a:xfrm>
        </p:spPr>
        <p:txBody>
          <a:bodyPr/>
          <a:lstStyle/>
          <a:p>
            <a:r>
              <a:rPr lang="en-US" dirty="0"/>
              <a:t>BTA / TAD Concepts – PhD Review &amp; SBIR Exploration - Version 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2: Knowledge Platforms</a:t>
            </a:r>
          </a:p>
        </p:txBody>
      </p:sp>
      <p:sp>
        <p:nvSpPr>
          <p:cNvPr id="3" name="Content Placeholder 2"/>
          <p:cNvSpPr>
            <a:spLocks noGrp="1"/>
          </p:cNvSpPr>
          <p:nvPr>
            <p:ph idx="1"/>
          </p:nvPr>
        </p:nvSpPr>
        <p:spPr>
          <a:xfrm>
            <a:off x="457200" y="2651761"/>
            <a:ext cx="8229600" cy="1353312"/>
          </a:xfrm>
        </p:spPr>
        <p:txBody>
          <a:bodyPr>
            <a:normAutofit/>
          </a:bodyPr>
          <a:lstStyle/>
          <a:p>
            <a:r>
              <a:rPr sz="2000" dirty="0"/>
              <a:t>Expansion into OSHA, NEC, healthcare, education, government policy, and enterprise guidance systems. Illustrative range: </a:t>
            </a:r>
            <a:r>
              <a:rPr sz="2000" b="1" u="sng" dirty="0"/>
              <a:t>$25M–$100M+ ARR.</a:t>
            </a:r>
          </a:p>
        </p:txBody>
      </p:sp>
      <p:sp>
        <p:nvSpPr>
          <p:cNvPr id="4" name="Footer Placeholder 3">
            <a:extLst>
              <a:ext uri="{FF2B5EF4-FFF2-40B4-BE49-F238E27FC236}">
                <a16:creationId xmlns:a16="http://schemas.microsoft.com/office/drawing/2014/main" id="{15A64FCB-6026-A5C4-3F79-3F6936A6FF37}"/>
              </a:ext>
            </a:extLst>
          </p:cNvPr>
          <p:cNvSpPr>
            <a:spLocks noGrp="1"/>
          </p:cNvSpPr>
          <p:nvPr>
            <p:ph type="ftr" sz="quarter" idx="11"/>
          </p:nvPr>
        </p:nvSpPr>
        <p:spPr>
          <a:xfrm>
            <a:off x="2394204" y="6218237"/>
            <a:ext cx="4355592" cy="365125"/>
          </a:xfrm>
        </p:spPr>
        <p:txBody>
          <a:bodyPr/>
          <a:lstStyle/>
          <a:p>
            <a:r>
              <a:rPr lang="en-US" dirty="0"/>
              <a:t>BTA / TAD Concepts – PhD Review &amp; SBIR Exploration - Version 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 3: Platform Licensing</a:t>
            </a:r>
          </a:p>
        </p:txBody>
      </p:sp>
      <p:sp>
        <p:nvSpPr>
          <p:cNvPr id="3" name="Content Placeholder 2"/>
          <p:cNvSpPr>
            <a:spLocks noGrp="1"/>
          </p:cNvSpPr>
          <p:nvPr>
            <p:ph idx="1"/>
          </p:nvPr>
        </p:nvSpPr>
        <p:spPr>
          <a:xfrm>
            <a:off x="310896" y="2743200"/>
            <a:ext cx="8439912" cy="1773935"/>
          </a:xfrm>
        </p:spPr>
        <p:txBody>
          <a:bodyPr>
            <a:normAutofit fontScale="85000" lnSpcReduction="20000"/>
          </a:bodyPr>
          <a:lstStyle/>
          <a:p>
            <a:r>
              <a:rPr sz="2000" dirty="0"/>
              <a:t>Governed Semantic Orchestration Platform, API licensing, semantic continuity services, governance frameworks, and semantic bridge services. Illustrative range: </a:t>
            </a:r>
            <a:r>
              <a:rPr sz="2000" b="1" u="sng" dirty="0"/>
              <a:t>$100M–$500M+ </a:t>
            </a:r>
            <a:r>
              <a:rPr sz="2000" dirty="0"/>
              <a:t>opportunity.</a:t>
            </a:r>
            <a:endParaRPr lang="en-US" sz="2000" dirty="0"/>
          </a:p>
          <a:p>
            <a:endParaRPr lang="en-US" sz="2000" dirty="0"/>
          </a:p>
          <a:p>
            <a:r>
              <a:rPr lang="en-US" sz="2000" b="1" dirty="0"/>
              <a:t>Revenue Expansion Mechanism:</a:t>
            </a:r>
            <a:r>
              <a:rPr lang="en-US" sz="2000" dirty="0"/>
              <a:t> Each new knowledge domain increases platform value without requiring a new orchestration architecture, creating scalable opportunities for licensing, domain-specific deployments, and platform-based revenue growth.</a:t>
            </a:r>
            <a:endParaRPr sz="2000" dirty="0"/>
          </a:p>
        </p:txBody>
      </p:sp>
      <p:sp>
        <p:nvSpPr>
          <p:cNvPr id="4" name="Footer Placeholder 3">
            <a:extLst>
              <a:ext uri="{FF2B5EF4-FFF2-40B4-BE49-F238E27FC236}">
                <a16:creationId xmlns:a16="http://schemas.microsoft.com/office/drawing/2014/main" id="{4F1622CB-9520-685A-15FE-D5B8F0796E9D}"/>
              </a:ext>
            </a:extLst>
          </p:cNvPr>
          <p:cNvSpPr>
            <a:spLocks noGrp="1"/>
          </p:cNvSpPr>
          <p:nvPr>
            <p:ph type="ftr" sz="quarter" idx="11"/>
          </p:nvPr>
        </p:nvSpPr>
        <p:spPr>
          <a:xfrm>
            <a:off x="2453640" y="6218237"/>
            <a:ext cx="4236720" cy="365125"/>
          </a:xfrm>
        </p:spPr>
        <p:txBody>
          <a:bodyPr/>
          <a:lstStyle/>
          <a:p>
            <a:r>
              <a:rPr lang="en-US"/>
              <a:t>BTA / TAD Concepts – PhD Review &amp; SBIR Exploration - Version 1</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Researchers May Participate</a:t>
            </a:r>
          </a:p>
        </p:txBody>
      </p:sp>
      <p:sp>
        <p:nvSpPr>
          <p:cNvPr id="3" name="Content Placeholder 2"/>
          <p:cNvSpPr>
            <a:spLocks noGrp="1"/>
          </p:cNvSpPr>
          <p:nvPr>
            <p:ph idx="1"/>
          </p:nvPr>
        </p:nvSpPr>
        <p:spPr>
          <a:xfrm>
            <a:off x="457200" y="2272285"/>
            <a:ext cx="8229600" cy="1344168"/>
          </a:xfrm>
        </p:spPr>
        <p:txBody>
          <a:bodyPr>
            <a:normAutofit/>
          </a:bodyPr>
          <a:lstStyle/>
          <a:p>
            <a:r>
              <a:rPr sz="2000" dirty="0"/>
              <a:t>Potential outcomes include publications, patents, technology transfer, startup participation, licensing opportunities, SBIR/STTR expansion, and industry partnerships.</a:t>
            </a:r>
          </a:p>
        </p:txBody>
      </p:sp>
      <p:sp>
        <p:nvSpPr>
          <p:cNvPr id="4" name="Footer Placeholder 3">
            <a:extLst>
              <a:ext uri="{FF2B5EF4-FFF2-40B4-BE49-F238E27FC236}">
                <a16:creationId xmlns:a16="http://schemas.microsoft.com/office/drawing/2014/main" id="{CDB226F8-7A9E-AD62-65DF-7399CE5CB942}"/>
              </a:ext>
            </a:extLst>
          </p:cNvPr>
          <p:cNvSpPr>
            <a:spLocks noGrp="1"/>
          </p:cNvSpPr>
          <p:nvPr>
            <p:ph type="ftr" sz="quarter" idx="11"/>
          </p:nvPr>
        </p:nvSpPr>
        <p:spPr>
          <a:xfrm>
            <a:off x="2403348" y="6218237"/>
            <a:ext cx="4337304" cy="365125"/>
          </a:xfrm>
        </p:spPr>
        <p:txBody>
          <a:bodyPr/>
          <a:lstStyle/>
          <a:p>
            <a:r>
              <a:rPr lang="en-US" dirty="0"/>
              <a:t>BTA / TAD Concepts – PhD Review &amp; SBIR Exploration - Version 1</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Potential Spin-Offs</a:t>
            </a:r>
          </a:p>
        </p:txBody>
      </p:sp>
      <p:sp>
        <p:nvSpPr>
          <p:cNvPr id="3" name="Content Placeholder 2"/>
          <p:cNvSpPr>
            <a:spLocks noGrp="1"/>
          </p:cNvSpPr>
          <p:nvPr>
            <p:ph idx="1"/>
          </p:nvPr>
        </p:nvSpPr>
        <p:spPr>
          <a:xfrm>
            <a:off x="457200" y="2743201"/>
            <a:ext cx="8229600" cy="1444752"/>
          </a:xfrm>
        </p:spPr>
        <p:txBody>
          <a:bodyPr>
            <a:normAutofit/>
          </a:bodyPr>
          <a:lstStyle/>
          <a:p>
            <a:r>
              <a:rPr sz="2000" dirty="0"/>
              <a:t>Semantic Continuity Engine, Semantic Bridge Technology, Governance Frameworks, Domain Knowledge Packs, Enterprise Orchestration Platforms, and Research Licensing.</a:t>
            </a:r>
          </a:p>
        </p:txBody>
      </p:sp>
      <p:sp>
        <p:nvSpPr>
          <p:cNvPr id="4" name="Footer Placeholder 3">
            <a:extLst>
              <a:ext uri="{FF2B5EF4-FFF2-40B4-BE49-F238E27FC236}">
                <a16:creationId xmlns:a16="http://schemas.microsoft.com/office/drawing/2014/main" id="{E73C1664-1F53-1B49-AA58-B4315BD6AC5D}"/>
              </a:ext>
            </a:extLst>
          </p:cNvPr>
          <p:cNvSpPr>
            <a:spLocks noGrp="1"/>
          </p:cNvSpPr>
          <p:nvPr>
            <p:ph type="ftr" sz="quarter" idx="11"/>
          </p:nvPr>
        </p:nvSpPr>
        <p:spPr>
          <a:xfrm>
            <a:off x="2426208" y="6356350"/>
            <a:ext cx="4291584" cy="365125"/>
          </a:xfrm>
        </p:spPr>
        <p:txBody>
          <a:bodyPr/>
          <a:lstStyle/>
          <a:p>
            <a:r>
              <a:rPr lang="en-US" dirty="0"/>
              <a:t>BTA / TAD Concepts – PhD Review &amp; SBIR Exploration - Version 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Relationship to TAD Concepts</a:t>
            </a:r>
          </a:p>
        </p:txBody>
      </p:sp>
      <p:sp>
        <p:nvSpPr>
          <p:cNvPr id="3" name="Content Placeholder 2"/>
          <p:cNvSpPr>
            <a:spLocks noGrp="1"/>
          </p:cNvSpPr>
          <p:nvPr>
            <p:ph idx="1"/>
          </p:nvPr>
        </p:nvSpPr>
        <p:spPr>
          <a:xfrm>
            <a:off x="457200" y="2551177"/>
            <a:ext cx="8229600" cy="1069848"/>
          </a:xfrm>
        </p:spPr>
        <p:txBody>
          <a:bodyPr>
            <a:normAutofit/>
          </a:bodyPr>
          <a:lstStyle/>
          <a:p>
            <a:r>
              <a:rPr sz="2000" dirty="0"/>
              <a:t>BTA is the first implementation. TAD Concepts is the innovation platform enabling future domain-specific orchestration systems.</a:t>
            </a:r>
          </a:p>
        </p:txBody>
      </p:sp>
      <p:sp>
        <p:nvSpPr>
          <p:cNvPr id="4" name="Footer Placeholder 3">
            <a:extLst>
              <a:ext uri="{FF2B5EF4-FFF2-40B4-BE49-F238E27FC236}">
                <a16:creationId xmlns:a16="http://schemas.microsoft.com/office/drawing/2014/main" id="{FB468B6D-5633-606A-EFEA-748A994C01DF}"/>
              </a:ext>
            </a:extLst>
          </p:cNvPr>
          <p:cNvSpPr>
            <a:spLocks noGrp="1"/>
          </p:cNvSpPr>
          <p:nvPr>
            <p:ph type="ftr" sz="quarter" idx="11"/>
          </p:nvPr>
        </p:nvSpPr>
        <p:spPr>
          <a:xfrm>
            <a:off x="2439924" y="6348476"/>
            <a:ext cx="4264152" cy="365125"/>
          </a:xfrm>
        </p:spPr>
        <p:txBody>
          <a:bodyPr/>
          <a:lstStyle/>
          <a:p>
            <a:r>
              <a:rPr lang="en-US" dirty="0"/>
              <a:t>BTA / TAD Concepts – PhD Review &amp; SBIR Exploration - Version 1</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Questions</a:t>
            </a:r>
          </a:p>
        </p:txBody>
      </p:sp>
      <p:sp>
        <p:nvSpPr>
          <p:cNvPr id="3" name="Content Placeholder 2"/>
          <p:cNvSpPr>
            <a:spLocks noGrp="1"/>
          </p:cNvSpPr>
          <p:nvPr>
            <p:ph idx="1"/>
          </p:nvPr>
        </p:nvSpPr>
        <p:spPr>
          <a:xfrm>
            <a:off x="457200" y="2039113"/>
            <a:ext cx="8229600" cy="2560320"/>
          </a:xfrm>
        </p:spPr>
        <p:txBody>
          <a:bodyPr>
            <a:normAutofit/>
          </a:bodyPr>
          <a:lstStyle/>
          <a:p>
            <a:r>
              <a:rPr sz="2000" dirty="0"/>
              <a:t>Which innovations are research-worthy? </a:t>
            </a:r>
            <a:endParaRPr lang="en-US" sz="2000" dirty="0"/>
          </a:p>
          <a:p>
            <a:endParaRPr lang="en-US" sz="2000" dirty="0"/>
          </a:p>
          <a:p>
            <a:r>
              <a:rPr sz="2000" dirty="0"/>
              <a:t>Which align with NSF priorities? </a:t>
            </a:r>
            <a:endParaRPr lang="en-US" sz="2000" dirty="0"/>
          </a:p>
          <a:p>
            <a:endParaRPr lang="en-US" sz="2000" dirty="0"/>
          </a:p>
          <a:p>
            <a:r>
              <a:rPr sz="2000" dirty="0"/>
              <a:t>What validation methods and commercialization pathways create the strongest proposal?</a:t>
            </a:r>
          </a:p>
        </p:txBody>
      </p:sp>
      <p:sp>
        <p:nvSpPr>
          <p:cNvPr id="4" name="Footer Placeholder 3">
            <a:extLst>
              <a:ext uri="{FF2B5EF4-FFF2-40B4-BE49-F238E27FC236}">
                <a16:creationId xmlns:a16="http://schemas.microsoft.com/office/drawing/2014/main" id="{450A0CC7-5D7E-092A-07E7-722DE4A56B49}"/>
              </a:ext>
            </a:extLst>
          </p:cNvPr>
          <p:cNvSpPr>
            <a:spLocks noGrp="1"/>
          </p:cNvSpPr>
          <p:nvPr>
            <p:ph type="ftr" sz="quarter" idx="11"/>
          </p:nvPr>
        </p:nvSpPr>
        <p:spPr>
          <a:xfrm>
            <a:off x="2407920" y="6237795"/>
            <a:ext cx="4328160" cy="365125"/>
          </a:xfrm>
        </p:spPr>
        <p:txBody>
          <a:bodyPr/>
          <a:lstStyle/>
          <a:p>
            <a:r>
              <a:rPr lang="en-US" dirty="0"/>
              <a:t>BTA / TAD Concepts – PhD Review &amp; SBIR Exploration - Version 1</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1208" y="100902"/>
            <a:ext cx="8229600" cy="1143000"/>
          </a:xfrm>
        </p:spPr>
        <p:txBody>
          <a:bodyPr/>
          <a:lstStyle/>
          <a:p>
            <a:r>
              <a:rPr dirty="0"/>
              <a:t>Why This Matters</a:t>
            </a:r>
          </a:p>
        </p:txBody>
      </p:sp>
      <p:sp>
        <p:nvSpPr>
          <p:cNvPr id="3" name="Content Placeholder 2"/>
          <p:cNvSpPr>
            <a:spLocks noGrp="1"/>
          </p:cNvSpPr>
          <p:nvPr>
            <p:ph idx="1"/>
          </p:nvPr>
        </p:nvSpPr>
        <p:spPr>
          <a:xfrm>
            <a:off x="457200" y="1042575"/>
            <a:ext cx="8229600" cy="5065617"/>
          </a:xfrm>
        </p:spPr>
        <p:txBody>
          <a:bodyPr>
            <a:noAutofit/>
          </a:bodyPr>
          <a:lstStyle/>
          <a:p>
            <a:pPr marL="0" indent="0" algn="ctr">
              <a:buNone/>
            </a:pPr>
            <a:endParaRPr lang="en-US" sz="2000" b="1" dirty="0"/>
          </a:p>
          <a:p>
            <a:pPr marL="0" indent="0" algn="ctr">
              <a:buNone/>
            </a:pPr>
            <a:r>
              <a:rPr lang="en-US" sz="2000" b="1" dirty="0"/>
              <a:t>Preserving Meaning May Be the Next Great Challenge in Artificial Intelligence</a:t>
            </a:r>
          </a:p>
          <a:p>
            <a:r>
              <a:rPr lang="en-US" sz="2000" dirty="0"/>
              <a:t>The first generation of AI focused on computation.</a:t>
            </a:r>
          </a:p>
          <a:p>
            <a:r>
              <a:rPr lang="en-US" sz="2000" dirty="0"/>
              <a:t>The second generation focused on information retrieval and generation.</a:t>
            </a:r>
          </a:p>
          <a:p>
            <a:r>
              <a:rPr lang="en-US" sz="2000" dirty="0"/>
              <a:t>The next generation may be defined by a more difficult question:</a:t>
            </a:r>
          </a:p>
          <a:p>
            <a:r>
              <a:rPr lang="en-US" sz="2000" dirty="0"/>
              <a:t>How can AI help humans build understanding without losing meaning, context, authority, or trust?</a:t>
            </a:r>
          </a:p>
          <a:p>
            <a:r>
              <a:rPr lang="en-US" sz="2000" dirty="0"/>
              <a:t>Today, most AI systems are capable of finding information.</a:t>
            </a:r>
          </a:p>
          <a:p>
            <a:r>
              <a:rPr lang="en-US" sz="2000" dirty="0"/>
              <a:t>Far fewer are capable of preserving the relationships that give information its meaning.</a:t>
            </a:r>
          </a:p>
          <a:p>
            <a:r>
              <a:rPr lang="en-US" sz="2000" dirty="0"/>
              <a:t>As knowledge becomes increasingly complex, multilingual, distributed, and AI-assisted, the ability to maintain continuity of understanding may become as important as retrieval itself.</a:t>
            </a:r>
          </a:p>
        </p:txBody>
      </p:sp>
      <p:sp>
        <p:nvSpPr>
          <p:cNvPr id="4" name="Footer Placeholder 3">
            <a:extLst>
              <a:ext uri="{FF2B5EF4-FFF2-40B4-BE49-F238E27FC236}">
                <a16:creationId xmlns:a16="http://schemas.microsoft.com/office/drawing/2014/main" id="{CBD34731-5EA9-58AF-6726-2E8F615CCC7E}"/>
              </a:ext>
            </a:extLst>
          </p:cNvPr>
          <p:cNvSpPr>
            <a:spLocks noGrp="1"/>
          </p:cNvSpPr>
          <p:nvPr>
            <p:ph type="ftr" sz="quarter" idx="11"/>
          </p:nvPr>
        </p:nvSpPr>
        <p:spPr>
          <a:xfrm>
            <a:off x="2366772" y="6339332"/>
            <a:ext cx="4538472" cy="365125"/>
          </a:xfrm>
        </p:spPr>
        <p:txBody>
          <a:bodyPr/>
          <a:lstStyle/>
          <a:p>
            <a:r>
              <a:rPr lang="en-US" dirty="0"/>
              <a:t>BTA / TAD Concepts – PhD Review &amp; SBIR Exploration - Version 1</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966C7D-D733-35FE-431A-9E952C7EE7B3}"/>
              </a:ext>
            </a:extLst>
          </p:cNvPr>
          <p:cNvSpPr>
            <a:spLocks noGrp="1"/>
          </p:cNvSpPr>
          <p:nvPr>
            <p:ph idx="1"/>
          </p:nvPr>
        </p:nvSpPr>
        <p:spPr>
          <a:xfrm>
            <a:off x="374904" y="841248"/>
            <a:ext cx="8229600" cy="5733288"/>
          </a:xfrm>
        </p:spPr>
        <p:txBody>
          <a:bodyPr>
            <a:normAutofit fontScale="70000" lnSpcReduction="20000"/>
          </a:bodyPr>
          <a:lstStyle/>
          <a:p>
            <a:r>
              <a:rPr lang="en-US" dirty="0"/>
              <a:t>BTA began as an effort to help people understand Scripture more deeply.</a:t>
            </a:r>
          </a:p>
          <a:p>
            <a:endParaRPr lang="en-US" dirty="0"/>
          </a:p>
          <a:p>
            <a:pPr marL="0" indent="0" algn="ctr">
              <a:buNone/>
            </a:pPr>
            <a:r>
              <a:rPr lang="en-US" b="1" u="sng" dirty="0"/>
              <a:t>In pursuing that goal, a broader opportunity emerged:</a:t>
            </a:r>
          </a:p>
          <a:p>
            <a:endParaRPr lang="en-US" dirty="0"/>
          </a:p>
          <a:p>
            <a:r>
              <a:rPr lang="en-US" dirty="0"/>
              <a:t>The possibility of developing a governed semantic orchestration architecture capable of helping humans navigate complex knowledge while preserving continuity, explainability, and trust.</a:t>
            </a:r>
          </a:p>
          <a:p>
            <a:endParaRPr lang="en-US" dirty="0"/>
          </a:p>
          <a:p>
            <a:r>
              <a:rPr lang="en-US" dirty="0"/>
              <a:t>If successful, the implications extend beyond faith-based applications into education, healthcare, engineering, public policy, compliance, scientific research, and other knowledge-intensive domains.</a:t>
            </a:r>
          </a:p>
          <a:p>
            <a:endParaRPr lang="en-US" dirty="0"/>
          </a:p>
          <a:p>
            <a:r>
              <a:rPr lang="en-US" dirty="0"/>
              <a:t>The question is no longer whether AI can generate answers.</a:t>
            </a:r>
          </a:p>
          <a:p>
            <a:endParaRPr lang="en-US" dirty="0"/>
          </a:p>
          <a:p>
            <a:r>
              <a:rPr lang="en-US" dirty="0"/>
              <a:t>The question is whether AI can help preserve understanding.</a:t>
            </a:r>
          </a:p>
          <a:p>
            <a:endParaRPr lang="en-US" dirty="0"/>
          </a:p>
        </p:txBody>
      </p:sp>
      <p:sp>
        <p:nvSpPr>
          <p:cNvPr id="2" name="Footer Placeholder 1">
            <a:extLst>
              <a:ext uri="{FF2B5EF4-FFF2-40B4-BE49-F238E27FC236}">
                <a16:creationId xmlns:a16="http://schemas.microsoft.com/office/drawing/2014/main" id="{D5CFE741-FD48-C356-AD44-00587BE9D988}"/>
              </a:ext>
            </a:extLst>
          </p:cNvPr>
          <p:cNvSpPr>
            <a:spLocks noGrp="1"/>
          </p:cNvSpPr>
          <p:nvPr>
            <p:ph type="ftr" sz="quarter" idx="11"/>
          </p:nvPr>
        </p:nvSpPr>
        <p:spPr>
          <a:xfrm>
            <a:off x="2289048" y="6348476"/>
            <a:ext cx="4401312"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302864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69D47A-281D-2961-1D86-59702B2C5025}"/>
              </a:ext>
            </a:extLst>
          </p:cNvPr>
          <p:cNvSpPr>
            <a:spLocks noGrp="1"/>
          </p:cNvSpPr>
          <p:nvPr>
            <p:ph idx="1"/>
          </p:nvPr>
        </p:nvSpPr>
        <p:spPr>
          <a:xfrm>
            <a:off x="82296" y="630936"/>
            <a:ext cx="8732520" cy="5916168"/>
          </a:xfrm>
        </p:spPr>
        <p:txBody>
          <a:bodyPr>
            <a:normAutofit fontScale="85000" lnSpcReduction="20000"/>
          </a:bodyPr>
          <a:lstStyle/>
          <a:p>
            <a:pPr marL="0" indent="0" algn="ctr">
              <a:buNone/>
            </a:pPr>
            <a:r>
              <a:rPr lang="en-US" b="1" dirty="0"/>
              <a:t>Invitation for Collaboration</a:t>
            </a:r>
          </a:p>
          <a:p>
            <a:pPr marL="0" indent="0" algn="ctr">
              <a:buNone/>
            </a:pPr>
            <a:r>
              <a:rPr lang="en-US" b="1" u="sng" dirty="0"/>
              <a:t>This project seeks academic, scientific, commercialization guidance to determine:</a:t>
            </a:r>
          </a:p>
          <a:p>
            <a:endParaRPr lang="en-US" dirty="0"/>
          </a:p>
          <a:p>
            <a:r>
              <a:rPr lang="en-US" dirty="0"/>
              <a:t>Whether semantic continuity can become a measurable research discipline. </a:t>
            </a:r>
          </a:p>
          <a:p>
            <a:endParaRPr lang="en-US" dirty="0"/>
          </a:p>
          <a:p>
            <a:r>
              <a:rPr lang="en-US" dirty="0"/>
              <a:t>Whether governed orchestration represents a new category of AI architecture. </a:t>
            </a:r>
          </a:p>
          <a:p>
            <a:endParaRPr lang="en-US" dirty="0"/>
          </a:p>
          <a:p>
            <a:r>
              <a:rPr lang="en-US" dirty="0"/>
              <a:t>Whether meaning preservation can improve human-AI knowledge interaction. </a:t>
            </a:r>
          </a:p>
          <a:p>
            <a:endParaRPr lang="en-US" dirty="0"/>
          </a:p>
          <a:p>
            <a:r>
              <a:rPr lang="en-US" dirty="0"/>
              <a:t>Whether these concepts warrant formal NSF SBIR investigation.</a:t>
            </a:r>
          </a:p>
          <a:p>
            <a:endParaRPr lang="en-US" dirty="0"/>
          </a:p>
        </p:txBody>
      </p:sp>
      <p:sp>
        <p:nvSpPr>
          <p:cNvPr id="2" name="Footer Placeholder 1">
            <a:extLst>
              <a:ext uri="{FF2B5EF4-FFF2-40B4-BE49-F238E27FC236}">
                <a16:creationId xmlns:a16="http://schemas.microsoft.com/office/drawing/2014/main" id="{D943961C-63AF-445F-A67F-D33490261A28}"/>
              </a:ext>
            </a:extLst>
          </p:cNvPr>
          <p:cNvSpPr>
            <a:spLocks noGrp="1"/>
          </p:cNvSpPr>
          <p:nvPr>
            <p:ph type="ftr" sz="quarter" idx="11"/>
          </p:nvPr>
        </p:nvSpPr>
        <p:spPr>
          <a:xfrm>
            <a:off x="2403348" y="6356350"/>
            <a:ext cx="433730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356494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C18A8-D84D-288E-EC4B-290132B2FF5E}"/>
              </a:ext>
            </a:extLst>
          </p:cNvPr>
          <p:cNvSpPr>
            <a:spLocks noGrp="1"/>
          </p:cNvSpPr>
          <p:nvPr>
            <p:ph type="title"/>
          </p:nvPr>
        </p:nvSpPr>
        <p:spPr/>
        <p:txBody>
          <a:bodyPr/>
          <a:lstStyle/>
          <a:p>
            <a:r>
              <a:rPr lang="en-US" dirty="0"/>
              <a:t>Why Now?</a:t>
            </a:r>
          </a:p>
        </p:txBody>
      </p:sp>
      <p:sp>
        <p:nvSpPr>
          <p:cNvPr id="3" name="Content Placeholder 2">
            <a:extLst>
              <a:ext uri="{FF2B5EF4-FFF2-40B4-BE49-F238E27FC236}">
                <a16:creationId xmlns:a16="http://schemas.microsoft.com/office/drawing/2014/main" id="{BDD46FF9-C2E2-64A0-954D-83AA2561DD6F}"/>
              </a:ext>
            </a:extLst>
          </p:cNvPr>
          <p:cNvSpPr>
            <a:spLocks noGrp="1"/>
          </p:cNvSpPr>
          <p:nvPr>
            <p:ph idx="1"/>
          </p:nvPr>
        </p:nvSpPr>
        <p:spPr/>
        <p:txBody>
          <a:bodyPr>
            <a:normAutofit fontScale="77500" lnSpcReduction="20000"/>
          </a:bodyPr>
          <a:lstStyle/>
          <a:p>
            <a:r>
              <a:rPr lang="en-US" b="1" dirty="0"/>
              <a:t>AI Adoption</a:t>
            </a:r>
          </a:p>
          <a:p>
            <a:r>
              <a:rPr lang="en-US" dirty="0"/>
              <a:t>AI is moving rapidly into knowledge-intensive environments.</a:t>
            </a:r>
          </a:p>
          <a:p>
            <a:r>
              <a:rPr lang="en-US" b="1" dirty="0"/>
              <a:t>Information Complexity</a:t>
            </a:r>
          </a:p>
          <a:p>
            <a:r>
              <a:rPr lang="en-US" dirty="0"/>
              <a:t>Organizations face growing volumes of regulations, policies, procedures, and technical standards.</a:t>
            </a:r>
          </a:p>
          <a:p>
            <a:r>
              <a:rPr lang="en-US" b="1" dirty="0"/>
              <a:t>Trust Challenges</a:t>
            </a:r>
          </a:p>
          <a:p>
            <a:r>
              <a:rPr lang="en-US" dirty="0"/>
              <a:t>Hallucinations, explainability concerns, and semantic drift create growing operational risk.</a:t>
            </a:r>
          </a:p>
          <a:p>
            <a:r>
              <a:rPr lang="en-US" b="1" dirty="0"/>
              <a:t>Observation</a:t>
            </a:r>
          </a:p>
          <a:p>
            <a:r>
              <a:rPr lang="en-US" dirty="0"/>
              <a:t>The challenge is no longer finding information.</a:t>
            </a:r>
          </a:p>
          <a:p>
            <a:r>
              <a:rPr lang="en-US" dirty="0"/>
              <a:t>The challenge is preserving understanding.</a:t>
            </a:r>
          </a:p>
          <a:p>
            <a:endParaRPr lang="en-US" dirty="0"/>
          </a:p>
        </p:txBody>
      </p:sp>
      <p:sp>
        <p:nvSpPr>
          <p:cNvPr id="4" name="Footer Placeholder 3">
            <a:extLst>
              <a:ext uri="{FF2B5EF4-FFF2-40B4-BE49-F238E27FC236}">
                <a16:creationId xmlns:a16="http://schemas.microsoft.com/office/drawing/2014/main" id="{189151B3-DABC-90A4-9D75-154D03E8B8DB}"/>
              </a:ext>
            </a:extLst>
          </p:cNvPr>
          <p:cNvSpPr>
            <a:spLocks noGrp="1"/>
          </p:cNvSpPr>
          <p:nvPr>
            <p:ph type="ftr" sz="quarter" idx="11"/>
          </p:nvPr>
        </p:nvSpPr>
        <p:spPr>
          <a:xfrm>
            <a:off x="2444496" y="6337427"/>
            <a:ext cx="425500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631504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1A4D9-E063-A4E7-0559-009881B116BC}"/>
              </a:ext>
            </a:extLst>
          </p:cNvPr>
          <p:cNvSpPr>
            <a:spLocks noGrp="1"/>
          </p:cNvSpPr>
          <p:nvPr>
            <p:ph type="title"/>
          </p:nvPr>
        </p:nvSpPr>
        <p:spPr/>
        <p:txBody>
          <a:bodyPr/>
          <a:lstStyle/>
          <a:p>
            <a:r>
              <a:rPr lang="en-US" dirty="0"/>
              <a:t>Why Existing Approaches Fall Short</a:t>
            </a:r>
          </a:p>
        </p:txBody>
      </p:sp>
      <p:sp>
        <p:nvSpPr>
          <p:cNvPr id="3" name="Content Placeholder 2">
            <a:extLst>
              <a:ext uri="{FF2B5EF4-FFF2-40B4-BE49-F238E27FC236}">
                <a16:creationId xmlns:a16="http://schemas.microsoft.com/office/drawing/2014/main" id="{95FB4A09-C045-DEE7-B564-3848F9989322}"/>
              </a:ext>
            </a:extLst>
          </p:cNvPr>
          <p:cNvSpPr>
            <a:spLocks noGrp="1"/>
          </p:cNvSpPr>
          <p:nvPr>
            <p:ph idx="1"/>
          </p:nvPr>
        </p:nvSpPr>
        <p:spPr>
          <a:xfrm>
            <a:off x="457200" y="1600200"/>
            <a:ext cx="4114800" cy="4525963"/>
          </a:xfrm>
        </p:spPr>
        <p:txBody>
          <a:bodyPr>
            <a:normAutofit fontScale="77500" lnSpcReduction="20000"/>
          </a:bodyPr>
          <a:lstStyle/>
          <a:p>
            <a:r>
              <a:rPr lang="en-US" b="1" dirty="0"/>
              <a:t>Search</a:t>
            </a:r>
          </a:p>
          <a:p>
            <a:r>
              <a:rPr lang="en-US" dirty="0"/>
              <a:t>Finds information.</a:t>
            </a:r>
          </a:p>
          <a:p>
            <a:r>
              <a:rPr lang="en-US" dirty="0"/>
              <a:t>Does not preserve understanding.</a:t>
            </a:r>
          </a:p>
          <a:p>
            <a:r>
              <a:rPr lang="en-US" b="1" dirty="0"/>
              <a:t>RAG</a:t>
            </a:r>
          </a:p>
          <a:p>
            <a:r>
              <a:rPr lang="en-US" dirty="0"/>
              <a:t>Retrieves relevant content.</a:t>
            </a:r>
          </a:p>
          <a:p>
            <a:r>
              <a:rPr lang="en-US" dirty="0"/>
              <a:t>Does not govern continuity.</a:t>
            </a:r>
          </a:p>
          <a:p>
            <a:r>
              <a:rPr lang="en-US" b="1" dirty="0"/>
              <a:t>LLMs</a:t>
            </a:r>
          </a:p>
          <a:p>
            <a:r>
              <a:rPr lang="en-US" dirty="0"/>
              <a:t>Generate responses.</a:t>
            </a:r>
          </a:p>
          <a:p>
            <a:r>
              <a:rPr lang="en-US" dirty="0"/>
              <a:t>May drift from source authority.</a:t>
            </a:r>
          </a:p>
          <a:p>
            <a:endParaRPr lang="en-US" dirty="0"/>
          </a:p>
        </p:txBody>
      </p:sp>
      <p:sp>
        <p:nvSpPr>
          <p:cNvPr id="4" name="Content Placeholder 2">
            <a:extLst>
              <a:ext uri="{FF2B5EF4-FFF2-40B4-BE49-F238E27FC236}">
                <a16:creationId xmlns:a16="http://schemas.microsoft.com/office/drawing/2014/main" id="{76420484-C6DB-7994-C9E2-A3F707FB8EC9}"/>
              </a:ext>
            </a:extLst>
          </p:cNvPr>
          <p:cNvSpPr txBox="1">
            <a:spLocks/>
          </p:cNvSpPr>
          <p:nvPr/>
        </p:nvSpPr>
        <p:spPr>
          <a:xfrm>
            <a:off x="4572000" y="1600200"/>
            <a:ext cx="4114800" cy="4525963"/>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b="1" dirty="0"/>
              <a:t>Agents</a:t>
            </a:r>
          </a:p>
          <a:p>
            <a:r>
              <a:rPr lang="en-US" dirty="0"/>
              <a:t>Coordinate tasks.</a:t>
            </a:r>
          </a:p>
          <a:p>
            <a:r>
              <a:rPr lang="en-US" dirty="0"/>
              <a:t>Rarely coordinate meaning.</a:t>
            </a:r>
          </a:p>
          <a:p>
            <a:r>
              <a:rPr lang="en-US" b="1" dirty="0"/>
              <a:t>Governed Semantic Orchestration</a:t>
            </a:r>
          </a:p>
          <a:p>
            <a:r>
              <a:rPr lang="en-US" dirty="0"/>
              <a:t>Coordinates understanding while preserving:</a:t>
            </a:r>
          </a:p>
          <a:p>
            <a:r>
              <a:rPr lang="en-US" dirty="0"/>
              <a:t>context </a:t>
            </a:r>
          </a:p>
          <a:p>
            <a:r>
              <a:rPr lang="en-US" dirty="0"/>
              <a:t>continuity </a:t>
            </a:r>
          </a:p>
          <a:p>
            <a:r>
              <a:rPr lang="en-US" dirty="0"/>
              <a:t>authority </a:t>
            </a:r>
          </a:p>
          <a:p>
            <a:r>
              <a:rPr lang="en-US" dirty="0"/>
              <a:t>trust</a:t>
            </a:r>
          </a:p>
          <a:p>
            <a:endParaRPr lang="en-US" dirty="0"/>
          </a:p>
        </p:txBody>
      </p:sp>
      <p:sp>
        <p:nvSpPr>
          <p:cNvPr id="5" name="Footer Placeholder 4">
            <a:extLst>
              <a:ext uri="{FF2B5EF4-FFF2-40B4-BE49-F238E27FC236}">
                <a16:creationId xmlns:a16="http://schemas.microsoft.com/office/drawing/2014/main" id="{ADD27198-D8FE-45E3-4648-3F433CC64C4A}"/>
              </a:ext>
            </a:extLst>
          </p:cNvPr>
          <p:cNvSpPr>
            <a:spLocks noGrp="1"/>
          </p:cNvSpPr>
          <p:nvPr>
            <p:ph type="ftr" sz="quarter" idx="11"/>
          </p:nvPr>
        </p:nvSpPr>
        <p:spPr>
          <a:xfrm>
            <a:off x="2261616" y="6308725"/>
            <a:ext cx="462076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7375548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C3D3C-51F5-84BD-5360-AF97AD7905A9}"/>
              </a:ext>
            </a:extLst>
          </p:cNvPr>
          <p:cNvSpPr>
            <a:spLocks noGrp="1"/>
          </p:cNvSpPr>
          <p:nvPr>
            <p:ph type="title"/>
          </p:nvPr>
        </p:nvSpPr>
        <p:spPr/>
        <p:txBody>
          <a:bodyPr/>
          <a:lstStyle/>
          <a:p>
            <a:r>
              <a:rPr lang="en-US" dirty="0"/>
              <a:t>What Has Already Been Proven?</a:t>
            </a:r>
          </a:p>
        </p:txBody>
      </p:sp>
      <p:sp>
        <p:nvSpPr>
          <p:cNvPr id="3" name="Content Placeholder 2">
            <a:extLst>
              <a:ext uri="{FF2B5EF4-FFF2-40B4-BE49-F238E27FC236}">
                <a16:creationId xmlns:a16="http://schemas.microsoft.com/office/drawing/2014/main" id="{E6937378-87B7-EA3E-7A02-2044F02CCC47}"/>
              </a:ext>
            </a:extLst>
          </p:cNvPr>
          <p:cNvSpPr>
            <a:spLocks noGrp="1"/>
          </p:cNvSpPr>
          <p:nvPr>
            <p:ph idx="1"/>
          </p:nvPr>
        </p:nvSpPr>
        <p:spPr>
          <a:xfrm>
            <a:off x="457200" y="1600200"/>
            <a:ext cx="8065008" cy="4983162"/>
          </a:xfrm>
        </p:spPr>
        <p:txBody>
          <a:bodyPr>
            <a:normAutofit fontScale="62500" lnSpcReduction="20000"/>
          </a:bodyPr>
          <a:lstStyle/>
          <a:p>
            <a:pPr marL="0" indent="0" algn="ctr">
              <a:buNone/>
            </a:pPr>
            <a:r>
              <a:rPr lang="en-US" b="1" dirty="0"/>
              <a:t>Architecture Proven</a:t>
            </a:r>
          </a:p>
          <a:p>
            <a:r>
              <a:rPr lang="en-US" dirty="0"/>
              <a:t>✓ Centralized Orchestration</a:t>
            </a:r>
          </a:p>
          <a:p>
            <a:r>
              <a:rPr lang="en-US" dirty="0"/>
              <a:t>✓ Semantic Layer Coordination</a:t>
            </a:r>
          </a:p>
          <a:p>
            <a:r>
              <a:rPr lang="en-US" dirty="0"/>
              <a:t>✓ Governance Framework</a:t>
            </a:r>
          </a:p>
          <a:p>
            <a:r>
              <a:rPr lang="en-US" dirty="0"/>
              <a:t>✓ Multi-Translation Foundations</a:t>
            </a:r>
          </a:p>
          <a:p>
            <a:r>
              <a:rPr lang="en-US" dirty="0"/>
              <a:t>✓ Commentary Boundaries</a:t>
            </a:r>
          </a:p>
          <a:p>
            <a:r>
              <a:rPr lang="en-US" dirty="0"/>
              <a:t>✓ Context Relationship Coordination</a:t>
            </a:r>
          </a:p>
          <a:p>
            <a:r>
              <a:rPr lang="en-US" dirty="0"/>
              <a:t>✓ Runtime Governance Controls</a:t>
            </a:r>
          </a:p>
          <a:p>
            <a:endParaRPr lang="en-US" b="1" dirty="0"/>
          </a:p>
          <a:p>
            <a:pPr marL="0" indent="0" algn="ctr">
              <a:buNone/>
            </a:pPr>
            <a:r>
              <a:rPr lang="en-US" b="1" dirty="0"/>
              <a:t>Research Questions Remaining</a:t>
            </a:r>
          </a:p>
          <a:p>
            <a:r>
              <a:rPr lang="en-US" dirty="0"/>
              <a:t>Can continuity be measured? </a:t>
            </a:r>
          </a:p>
          <a:p>
            <a:r>
              <a:rPr lang="en-US" dirty="0"/>
              <a:t>Can drift be quantified? </a:t>
            </a:r>
          </a:p>
          <a:p>
            <a:r>
              <a:rPr lang="en-US" dirty="0"/>
              <a:t>Can orchestration improve trust? </a:t>
            </a:r>
          </a:p>
          <a:p>
            <a:r>
              <a:rPr lang="en-US" dirty="0"/>
              <a:t>Can semantic bridges preserve meaning across languages? </a:t>
            </a:r>
          </a:p>
          <a:p>
            <a:r>
              <a:rPr lang="en-US" dirty="0"/>
              <a:t>This slide dramatically increases credibility.</a:t>
            </a:r>
          </a:p>
          <a:p>
            <a:endParaRPr lang="en-US" dirty="0"/>
          </a:p>
        </p:txBody>
      </p:sp>
      <p:sp>
        <p:nvSpPr>
          <p:cNvPr id="4" name="Footer Placeholder 3">
            <a:extLst>
              <a:ext uri="{FF2B5EF4-FFF2-40B4-BE49-F238E27FC236}">
                <a16:creationId xmlns:a16="http://schemas.microsoft.com/office/drawing/2014/main" id="{CA2A3D3F-17B0-8622-0A95-24D25E30B744}"/>
              </a:ext>
            </a:extLst>
          </p:cNvPr>
          <p:cNvSpPr>
            <a:spLocks noGrp="1"/>
          </p:cNvSpPr>
          <p:nvPr>
            <p:ph type="ftr" sz="quarter" idx="11"/>
          </p:nvPr>
        </p:nvSpPr>
        <p:spPr>
          <a:xfrm>
            <a:off x="2407920" y="6356350"/>
            <a:ext cx="4328160"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331904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6E0C-60C6-7A8B-345E-F420BB95DBE1}"/>
              </a:ext>
            </a:extLst>
          </p:cNvPr>
          <p:cNvSpPr>
            <a:spLocks noGrp="1"/>
          </p:cNvSpPr>
          <p:nvPr>
            <p:ph type="title"/>
          </p:nvPr>
        </p:nvSpPr>
        <p:spPr>
          <a:xfrm>
            <a:off x="0" y="110046"/>
            <a:ext cx="9144000" cy="1143000"/>
          </a:xfrm>
        </p:spPr>
        <p:txBody>
          <a:bodyPr>
            <a:noAutofit/>
          </a:bodyPr>
          <a:lstStyle/>
          <a:p>
            <a:r>
              <a:rPr lang="en-US" sz="3800" dirty="0"/>
              <a:t>Potential Intellectual Property Opportunities</a:t>
            </a:r>
          </a:p>
        </p:txBody>
      </p:sp>
      <p:sp>
        <p:nvSpPr>
          <p:cNvPr id="3" name="Content Placeholder 2">
            <a:extLst>
              <a:ext uri="{FF2B5EF4-FFF2-40B4-BE49-F238E27FC236}">
                <a16:creationId xmlns:a16="http://schemas.microsoft.com/office/drawing/2014/main" id="{DED41A81-C9F3-F00B-7781-123867A21095}"/>
              </a:ext>
            </a:extLst>
          </p:cNvPr>
          <p:cNvSpPr>
            <a:spLocks noGrp="1"/>
          </p:cNvSpPr>
          <p:nvPr>
            <p:ph idx="1"/>
          </p:nvPr>
        </p:nvSpPr>
        <p:spPr>
          <a:xfrm>
            <a:off x="457200" y="1417638"/>
            <a:ext cx="8229600" cy="5075237"/>
          </a:xfrm>
        </p:spPr>
        <p:txBody>
          <a:bodyPr>
            <a:normAutofit fontScale="62500" lnSpcReduction="20000"/>
          </a:bodyPr>
          <a:lstStyle/>
          <a:p>
            <a:pPr marL="0" indent="0" algn="ctr">
              <a:buNone/>
            </a:pPr>
            <a:r>
              <a:rPr lang="en-US" b="1" dirty="0"/>
              <a:t>Potential patent and licensing areas include:</a:t>
            </a:r>
          </a:p>
          <a:p>
            <a:pPr algn="ctr"/>
            <a:r>
              <a:rPr lang="en-US" dirty="0"/>
              <a:t>Semantic Continuity Measurement </a:t>
            </a:r>
          </a:p>
          <a:p>
            <a:pPr algn="ctr"/>
            <a:r>
              <a:rPr lang="en-US" dirty="0"/>
              <a:t>Governed Orchestration Frameworks </a:t>
            </a:r>
          </a:p>
          <a:p>
            <a:pPr algn="ctr"/>
            <a:r>
              <a:rPr lang="en-US" dirty="0"/>
              <a:t>Semantic Bridge Architectures </a:t>
            </a:r>
          </a:p>
          <a:p>
            <a:pPr algn="ctr"/>
            <a:r>
              <a:rPr lang="en-US" dirty="0"/>
              <a:t>Context Relationship Coordination </a:t>
            </a:r>
          </a:p>
          <a:p>
            <a:pPr algn="ctr"/>
            <a:r>
              <a:rPr lang="en-US" dirty="0"/>
              <a:t>Translation-Aware Continuity </a:t>
            </a:r>
          </a:p>
          <a:p>
            <a:pPr algn="ctr"/>
            <a:r>
              <a:rPr lang="en-US" dirty="0"/>
              <a:t>Meaning Preservation Models </a:t>
            </a:r>
          </a:p>
          <a:p>
            <a:pPr marL="0" indent="0">
              <a:buNone/>
            </a:pPr>
            <a:endParaRPr lang="en-US" b="1" dirty="0"/>
          </a:p>
          <a:p>
            <a:pPr marL="0" indent="0" algn="ctr">
              <a:buNone/>
            </a:pPr>
            <a:r>
              <a:rPr lang="en-US" b="1" dirty="0"/>
              <a:t>Potential Outcomes</a:t>
            </a:r>
          </a:p>
          <a:p>
            <a:pPr algn="ctr"/>
            <a:r>
              <a:rPr lang="en-US" dirty="0"/>
              <a:t>Patent portfolios </a:t>
            </a:r>
          </a:p>
          <a:p>
            <a:pPr algn="ctr"/>
            <a:r>
              <a:rPr lang="en-US" dirty="0"/>
              <a:t>Technology licensing </a:t>
            </a:r>
          </a:p>
          <a:p>
            <a:pPr algn="ctr"/>
            <a:r>
              <a:rPr lang="en-US" dirty="0"/>
              <a:t>University partnerships </a:t>
            </a:r>
          </a:p>
          <a:p>
            <a:pPr algn="ctr"/>
            <a:r>
              <a:rPr lang="en-US" dirty="0"/>
              <a:t>Commercial spin-offs </a:t>
            </a:r>
          </a:p>
          <a:p>
            <a:pPr algn="ctr"/>
            <a:r>
              <a:rPr lang="en-US" dirty="0"/>
              <a:t>Research grants</a:t>
            </a:r>
          </a:p>
          <a:p>
            <a:pPr algn="ctr"/>
            <a:endParaRPr lang="en-US" sz="1300" dirty="0"/>
          </a:p>
          <a:p>
            <a:pPr marL="0" indent="0" algn="ctr">
              <a:buNone/>
            </a:pPr>
            <a:r>
              <a:rPr lang="en-US" b="1" dirty="0"/>
              <a:t>These areas are presented as potential future intellectual property and research exploration opportunities, not as established patent claims.</a:t>
            </a:r>
          </a:p>
          <a:p>
            <a:endParaRPr lang="en-US" dirty="0"/>
          </a:p>
        </p:txBody>
      </p:sp>
      <p:sp>
        <p:nvSpPr>
          <p:cNvPr id="4" name="Footer Placeholder 3">
            <a:extLst>
              <a:ext uri="{FF2B5EF4-FFF2-40B4-BE49-F238E27FC236}">
                <a16:creationId xmlns:a16="http://schemas.microsoft.com/office/drawing/2014/main" id="{BFFCB273-B309-52B6-BDF5-D82C1F76E9DF}"/>
              </a:ext>
            </a:extLst>
          </p:cNvPr>
          <p:cNvSpPr>
            <a:spLocks noGrp="1"/>
          </p:cNvSpPr>
          <p:nvPr>
            <p:ph type="ftr" sz="quarter" idx="11"/>
          </p:nvPr>
        </p:nvSpPr>
        <p:spPr>
          <a:xfrm>
            <a:off x="2731008" y="6492875"/>
            <a:ext cx="4264152"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9181852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047B7-AC1A-E581-D4C6-F89FCFECC385}"/>
              </a:ext>
            </a:extLst>
          </p:cNvPr>
          <p:cNvSpPr>
            <a:spLocks noGrp="1"/>
          </p:cNvSpPr>
          <p:nvPr>
            <p:ph type="title"/>
          </p:nvPr>
        </p:nvSpPr>
        <p:spPr/>
        <p:txBody>
          <a:bodyPr/>
          <a:lstStyle/>
          <a:p>
            <a:r>
              <a:rPr lang="en-US" dirty="0"/>
              <a:t>Organizational Foundation</a:t>
            </a:r>
          </a:p>
        </p:txBody>
      </p:sp>
      <p:sp>
        <p:nvSpPr>
          <p:cNvPr id="3" name="Content Placeholder 2">
            <a:extLst>
              <a:ext uri="{FF2B5EF4-FFF2-40B4-BE49-F238E27FC236}">
                <a16:creationId xmlns:a16="http://schemas.microsoft.com/office/drawing/2014/main" id="{5D3235A1-F48B-7E82-29FB-2EDCD0D78D4C}"/>
              </a:ext>
            </a:extLst>
          </p:cNvPr>
          <p:cNvSpPr>
            <a:spLocks noGrp="1"/>
          </p:cNvSpPr>
          <p:nvPr>
            <p:ph idx="1"/>
          </p:nvPr>
        </p:nvSpPr>
        <p:spPr>
          <a:xfrm>
            <a:off x="457200" y="1197864"/>
            <a:ext cx="8229600" cy="5660136"/>
          </a:xfrm>
        </p:spPr>
        <p:txBody>
          <a:bodyPr>
            <a:normAutofit fontScale="70000" lnSpcReduction="20000"/>
          </a:bodyPr>
          <a:lstStyle/>
          <a:p>
            <a:pPr marL="0" indent="0" algn="ctr">
              <a:buNone/>
            </a:pPr>
            <a:r>
              <a:rPr lang="en-US" b="1" dirty="0"/>
              <a:t>Bible TA LLC</a:t>
            </a:r>
          </a:p>
          <a:p>
            <a:r>
              <a:rPr lang="en-US" dirty="0"/>
              <a:t>Legal Status:</a:t>
            </a:r>
          </a:p>
          <a:p>
            <a:r>
              <a:rPr lang="en-US" dirty="0"/>
              <a:t>✅ Florida LLC Established</a:t>
            </a:r>
          </a:p>
          <a:p>
            <a:r>
              <a:rPr lang="en-US" dirty="0"/>
              <a:t>✅ Federal EIN Obtained</a:t>
            </a:r>
          </a:p>
          <a:p>
            <a:r>
              <a:rPr lang="en-US" dirty="0"/>
              <a:t>✅ Production Platform Operational</a:t>
            </a:r>
          </a:p>
          <a:p>
            <a:r>
              <a:rPr lang="en-US" dirty="0"/>
              <a:t>✅ Commercialization Planning Underway</a:t>
            </a:r>
          </a:p>
          <a:p>
            <a:r>
              <a:rPr lang="en-US" dirty="0"/>
              <a:t>✅ NSF SBIR Exploration Underway</a:t>
            </a:r>
          </a:p>
          <a:p>
            <a:pPr marL="0" indent="0" algn="ctr">
              <a:buNone/>
            </a:pPr>
            <a:endParaRPr lang="en-US" b="1" dirty="0"/>
          </a:p>
          <a:p>
            <a:pPr marL="0" indent="0" algn="ctr">
              <a:buNone/>
            </a:pPr>
            <a:r>
              <a:rPr lang="en-US" b="1" dirty="0"/>
              <a:t>Why This Matters</a:t>
            </a:r>
          </a:p>
          <a:p>
            <a:r>
              <a:rPr lang="en-US" dirty="0"/>
              <a:t>The project has progressed beyond concept and now operates within a formal organizational structure capable of supporting:</a:t>
            </a:r>
          </a:p>
          <a:p>
            <a:r>
              <a:rPr lang="en-US" dirty="0"/>
              <a:t>Academic partnerships </a:t>
            </a:r>
          </a:p>
          <a:p>
            <a:r>
              <a:rPr lang="en-US" dirty="0"/>
              <a:t>Research collaboration </a:t>
            </a:r>
          </a:p>
          <a:p>
            <a:r>
              <a:rPr lang="en-US" dirty="0"/>
              <a:t>IP development </a:t>
            </a:r>
          </a:p>
          <a:p>
            <a:r>
              <a:rPr lang="en-US" dirty="0"/>
              <a:t>Licensing </a:t>
            </a:r>
          </a:p>
          <a:p>
            <a:r>
              <a:rPr lang="en-US" dirty="0"/>
              <a:t>Future investment</a:t>
            </a:r>
          </a:p>
          <a:p>
            <a:endParaRPr lang="en-US" dirty="0"/>
          </a:p>
        </p:txBody>
      </p:sp>
      <p:sp>
        <p:nvSpPr>
          <p:cNvPr id="4" name="Footer Placeholder 3">
            <a:extLst>
              <a:ext uri="{FF2B5EF4-FFF2-40B4-BE49-F238E27FC236}">
                <a16:creationId xmlns:a16="http://schemas.microsoft.com/office/drawing/2014/main" id="{851EA968-A480-3419-195F-F80E17DC1D96}"/>
              </a:ext>
            </a:extLst>
          </p:cNvPr>
          <p:cNvSpPr>
            <a:spLocks noGrp="1"/>
          </p:cNvSpPr>
          <p:nvPr>
            <p:ph type="ftr" sz="quarter" idx="11"/>
          </p:nvPr>
        </p:nvSpPr>
        <p:spPr/>
        <p:txBody>
          <a:bodyPr/>
          <a:lstStyle/>
          <a:p>
            <a:r>
              <a:rPr lang="en-US"/>
              <a:t>BTA / TAD Concepts – PhD Review &amp; SBIR Exploration - Version 1</a:t>
            </a:r>
          </a:p>
        </p:txBody>
      </p:sp>
    </p:spTree>
    <p:extLst>
      <p:ext uri="{BB962C8B-B14F-4D97-AF65-F5344CB8AC3E}">
        <p14:creationId xmlns:p14="http://schemas.microsoft.com/office/powerpoint/2010/main" val="3359443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1559C-F200-5751-AE51-4D9ABB6F0D4D}"/>
              </a:ext>
            </a:extLst>
          </p:cNvPr>
          <p:cNvSpPr>
            <a:spLocks noGrp="1"/>
          </p:cNvSpPr>
          <p:nvPr>
            <p:ph type="title"/>
          </p:nvPr>
        </p:nvSpPr>
        <p:spPr>
          <a:xfrm>
            <a:off x="457200" y="110046"/>
            <a:ext cx="8229600" cy="1143000"/>
          </a:xfrm>
        </p:spPr>
        <p:txBody>
          <a:bodyPr/>
          <a:lstStyle/>
          <a:p>
            <a:r>
              <a:rPr lang="en-US" dirty="0"/>
              <a:t>Organizational &amp; Platform Maturity</a:t>
            </a:r>
          </a:p>
        </p:txBody>
      </p:sp>
      <p:sp>
        <p:nvSpPr>
          <p:cNvPr id="6" name="Content Placeholder 5">
            <a:extLst>
              <a:ext uri="{FF2B5EF4-FFF2-40B4-BE49-F238E27FC236}">
                <a16:creationId xmlns:a16="http://schemas.microsoft.com/office/drawing/2014/main" id="{95A4A54F-7BD1-ADAF-54AF-0D569698ED2B}"/>
              </a:ext>
            </a:extLst>
          </p:cNvPr>
          <p:cNvSpPr>
            <a:spLocks noGrp="1"/>
          </p:cNvSpPr>
          <p:nvPr>
            <p:ph idx="1"/>
          </p:nvPr>
        </p:nvSpPr>
        <p:spPr>
          <a:xfrm>
            <a:off x="457200" y="1143000"/>
            <a:ext cx="8229600" cy="5147754"/>
          </a:xfrm>
        </p:spPr>
        <p:txBody>
          <a:bodyPr>
            <a:normAutofit fontScale="77500" lnSpcReduction="20000"/>
          </a:bodyPr>
          <a:lstStyle/>
          <a:p>
            <a:r>
              <a:rPr lang="en-US" b="1" dirty="0"/>
              <a:t>Foundation Already Established</a:t>
            </a:r>
          </a:p>
          <a:p>
            <a:r>
              <a:rPr lang="en-US" dirty="0"/>
              <a:t>✅ Florida LLC Established</a:t>
            </a:r>
          </a:p>
          <a:p>
            <a:r>
              <a:rPr lang="en-US" dirty="0"/>
              <a:t>✅ Federal EIN Obtained</a:t>
            </a:r>
          </a:p>
          <a:p>
            <a:r>
              <a:rPr lang="en-US" dirty="0"/>
              <a:t>✅ Production Platform Deployed (BTA v3.2.1)</a:t>
            </a:r>
          </a:p>
          <a:p>
            <a:r>
              <a:rPr lang="en-US" dirty="0"/>
              <a:t>✅ Multi-Phase Architecture Defined &amp; Implemented</a:t>
            </a:r>
          </a:p>
          <a:p>
            <a:r>
              <a:rPr lang="en-US" dirty="0"/>
              <a:t>✅ Constitutional Governance Framework Operational</a:t>
            </a:r>
          </a:p>
          <a:p>
            <a:r>
              <a:rPr lang="en-US" dirty="0"/>
              <a:t>✅ Active Production User Validation Cycle</a:t>
            </a:r>
          </a:p>
          <a:p>
            <a:r>
              <a:rPr lang="en-US" dirty="0"/>
              <a:t>✅ Commercialization Strategy Defined</a:t>
            </a:r>
          </a:p>
          <a:p>
            <a:r>
              <a:rPr lang="en-US" dirty="0"/>
              <a:t>✅ Multiple Revenue Pathways Identified</a:t>
            </a:r>
          </a:p>
          <a:p>
            <a:endParaRPr lang="en-US" dirty="0"/>
          </a:p>
          <a:p>
            <a:r>
              <a:rPr lang="en-US" dirty="0"/>
              <a:t>Multiple future research, intellectual property, and commercialization pathways have already been identified through active platform development, production deployment, and roadmap planning.</a:t>
            </a:r>
          </a:p>
          <a:p>
            <a:endParaRPr lang="en-US" dirty="0"/>
          </a:p>
          <a:p>
            <a:endParaRPr lang="en-US" dirty="0"/>
          </a:p>
        </p:txBody>
      </p:sp>
      <p:sp>
        <p:nvSpPr>
          <p:cNvPr id="3" name="Footer Placeholder 2">
            <a:extLst>
              <a:ext uri="{FF2B5EF4-FFF2-40B4-BE49-F238E27FC236}">
                <a16:creationId xmlns:a16="http://schemas.microsoft.com/office/drawing/2014/main" id="{73DBFF59-7104-12E8-741E-72DD4431FD87}"/>
              </a:ext>
            </a:extLst>
          </p:cNvPr>
          <p:cNvSpPr>
            <a:spLocks noGrp="1"/>
          </p:cNvSpPr>
          <p:nvPr>
            <p:ph type="ftr" sz="quarter" idx="11"/>
          </p:nvPr>
        </p:nvSpPr>
        <p:spPr>
          <a:xfrm>
            <a:off x="2380488" y="6356350"/>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58797310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BE8E-03CC-206C-35FB-303FDA410E3B}"/>
              </a:ext>
            </a:extLst>
          </p:cNvPr>
          <p:cNvSpPr>
            <a:spLocks noGrp="1"/>
          </p:cNvSpPr>
          <p:nvPr>
            <p:ph type="title"/>
          </p:nvPr>
        </p:nvSpPr>
        <p:spPr>
          <a:xfrm>
            <a:off x="457200" y="73470"/>
            <a:ext cx="8229600" cy="960438"/>
          </a:xfrm>
        </p:spPr>
        <p:txBody>
          <a:bodyPr>
            <a:normAutofit/>
          </a:bodyPr>
          <a:lstStyle/>
          <a:p>
            <a:r>
              <a:rPr lang="en-US" sz="4000" dirty="0"/>
              <a:t>Platform Expansion Roadmap</a:t>
            </a:r>
          </a:p>
        </p:txBody>
      </p:sp>
      <p:sp>
        <p:nvSpPr>
          <p:cNvPr id="3" name="Content Placeholder 2">
            <a:extLst>
              <a:ext uri="{FF2B5EF4-FFF2-40B4-BE49-F238E27FC236}">
                <a16:creationId xmlns:a16="http://schemas.microsoft.com/office/drawing/2014/main" id="{099A5C33-C9C1-8D06-BEC0-05B51400A64A}"/>
              </a:ext>
            </a:extLst>
          </p:cNvPr>
          <p:cNvSpPr>
            <a:spLocks noGrp="1"/>
          </p:cNvSpPr>
          <p:nvPr>
            <p:ph idx="1"/>
          </p:nvPr>
        </p:nvSpPr>
        <p:spPr>
          <a:xfrm>
            <a:off x="347472" y="905256"/>
            <a:ext cx="8339328" cy="5879274"/>
          </a:xfrm>
        </p:spPr>
        <p:txBody>
          <a:bodyPr>
            <a:normAutofit fontScale="55000" lnSpcReduction="20000"/>
          </a:bodyPr>
          <a:lstStyle/>
          <a:p>
            <a:pPr marL="0" indent="0" algn="ctr">
              <a:buNone/>
            </a:pPr>
            <a:r>
              <a:rPr lang="en-US" b="1" dirty="0"/>
              <a:t>Near-Term Expansion</a:t>
            </a:r>
          </a:p>
          <a:p>
            <a:pPr algn="ctr"/>
            <a:r>
              <a:rPr lang="en-US" dirty="0"/>
              <a:t>Context Domain Evolution </a:t>
            </a:r>
          </a:p>
          <a:p>
            <a:pPr algn="ctr"/>
            <a:r>
              <a:rPr lang="en-US" dirty="0"/>
              <a:t>Commentary Domain Expansion </a:t>
            </a:r>
          </a:p>
          <a:p>
            <a:pPr algn="ctr"/>
            <a:r>
              <a:rPr lang="en-US" dirty="0"/>
              <a:t>Multi-Translation Participation </a:t>
            </a:r>
          </a:p>
          <a:p>
            <a:pPr algn="ctr"/>
            <a:r>
              <a:rPr lang="en-US" dirty="0"/>
              <a:t>Runtime Optimization </a:t>
            </a:r>
          </a:p>
          <a:p>
            <a:pPr algn="ctr"/>
            <a:r>
              <a:rPr lang="en-US" dirty="0"/>
              <a:t>Advanced Semantic UX </a:t>
            </a:r>
          </a:p>
          <a:p>
            <a:pPr algn="ctr"/>
            <a:r>
              <a:rPr lang="en-US" dirty="0"/>
              <a:t>Governance Refinement </a:t>
            </a:r>
          </a:p>
          <a:p>
            <a:pPr algn="ctr"/>
            <a:endParaRPr lang="en-US" sz="1500" dirty="0"/>
          </a:p>
          <a:p>
            <a:pPr marL="0" indent="0" algn="ctr">
              <a:buNone/>
            </a:pPr>
            <a:r>
              <a:rPr lang="en-US" b="1" dirty="0"/>
              <a:t>Mid-Term Expansion</a:t>
            </a:r>
          </a:p>
          <a:p>
            <a:pPr algn="ctr"/>
            <a:r>
              <a:rPr lang="en-US" dirty="0"/>
              <a:t>Semantic Continuity Research </a:t>
            </a:r>
          </a:p>
          <a:p>
            <a:pPr algn="ctr"/>
            <a:r>
              <a:rPr lang="en-US" dirty="0"/>
              <a:t>Translation-Aware Orchestration </a:t>
            </a:r>
          </a:p>
          <a:p>
            <a:pPr algn="ctr"/>
            <a:r>
              <a:rPr lang="en-US" dirty="0"/>
              <a:t>Context Relationship Coordination </a:t>
            </a:r>
          </a:p>
          <a:p>
            <a:pPr algn="ctr"/>
            <a:r>
              <a:rPr lang="en-US" dirty="0"/>
              <a:t>Cross-Passage Coordination </a:t>
            </a:r>
          </a:p>
          <a:p>
            <a:pPr algn="ctr"/>
            <a:r>
              <a:rPr lang="en-US" dirty="0"/>
              <a:t>Semantic Retrieval Architecture </a:t>
            </a:r>
          </a:p>
          <a:p>
            <a:pPr algn="ctr"/>
            <a:endParaRPr lang="en-US" sz="1500" dirty="0"/>
          </a:p>
          <a:p>
            <a:pPr marL="0" indent="0" algn="ctr">
              <a:buNone/>
            </a:pPr>
            <a:r>
              <a:rPr lang="en-US" b="1" dirty="0"/>
              <a:t>Long-Term Expansion</a:t>
            </a:r>
          </a:p>
          <a:p>
            <a:pPr algn="ctr"/>
            <a:r>
              <a:rPr lang="en-US" dirty="0"/>
              <a:t>Semantic Bridge Architecture </a:t>
            </a:r>
          </a:p>
          <a:p>
            <a:pPr algn="ctr"/>
            <a:r>
              <a:rPr lang="en-US" dirty="0"/>
              <a:t>Multilingual Semantic Coordination </a:t>
            </a:r>
          </a:p>
          <a:p>
            <a:pPr algn="ctr"/>
            <a:r>
              <a:rPr lang="en-US" dirty="0"/>
              <a:t>Cross-Domain Knowledge Orchestration </a:t>
            </a:r>
          </a:p>
          <a:p>
            <a:pPr algn="ctr"/>
            <a:r>
              <a:rPr lang="en-US" dirty="0"/>
              <a:t>Domain-Specific Knowledge Platforms </a:t>
            </a:r>
          </a:p>
          <a:p>
            <a:pPr algn="ctr"/>
            <a:r>
              <a:rPr lang="en-US" dirty="0"/>
              <a:t>Governed Semantic Orchestration Licensing</a:t>
            </a:r>
          </a:p>
          <a:p>
            <a:endParaRPr lang="en-US" dirty="0"/>
          </a:p>
        </p:txBody>
      </p:sp>
      <p:sp>
        <p:nvSpPr>
          <p:cNvPr id="4" name="Footer Placeholder 3">
            <a:extLst>
              <a:ext uri="{FF2B5EF4-FFF2-40B4-BE49-F238E27FC236}">
                <a16:creationId xmlns:a16="http://schemas.microsoft.com/office/drawing/2014/main" id="{0F6983AB-48DE-5606-02F8-24BFDC6BA67B}"/>
              </a:ext>
            </a:extLst>
          </p:cNvPr>
          <p:cNvSpPr>
            <a:spLocks noGrp="1"/>
          </p:cNvSpPr>
          <p:nvPr>
            <p:ph type="ftr" sz="quarter" idx="11"/>
          </p:nvPr>
        </p:nvSpPr>
        <p:spPr>
          <a:xfrm>
            <a:off x="2380488" y="6438010"/>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3193819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AF58D-2375-8655-3B23-572CB90357E2}"/>
              </a:ext>
            </a:extLst>
          </p:cNvPr>
          <p:cNvSpPr>
            <a:spLocks noGrp="1"/>
          </p:cNvSpPr>
          <p:nvPr>
            <p:ph type="title"/>
          </p:nvPr>
        </p:nvSpPr>
        <p:spPr>
          <a:xfrm>
            <a:off x="457200" y="55182"/>
            <a:ext cx="8229600" cy="1143000"/>
          </a:xfrm>
        </p:spPr>
        <p:txBody>
          <a:bodyPr/>
          <a:lstStyle/>
          <a:p>
            <a:r>
              <a:rPr lang="en-US" dirty="0"/>
              <a:t>Innovation Portfolio</a:t>
            </a:r>
          </a:p>
        </p:txBody>
      </p:sp>
      <p:sp>
        <p:nvSpPr>
          <p:cNvPr id="3" name="Content Placeholder 2">
            <a:extLst>
              <a:ext uri="{FF2B5EF4-FFF2-40B4-BE49-F238E27FC236}">
                <a16:creationId xmlns:a16="http://schemas.microsoft.com/office/drawing/2014/main" id="{1A90AA4C-E20B-4976-319F-174FC6CFABFF}"/>
              </a:ext>
            </a:extLst>
          </p:cNvPr>
          <p:cNvSpPr>
            <a:spLocks noGrp="1"/>
          </p:cNvSpPr>
          <p:nvPr>
            <p:ph idx="1"/>
          </p:nvPr>
        </p:nvSpPr>
        <p:spPr>
          <a:xfrm>
            <a:off x="374904" y="996696"/>
            <a:ext cx="8449056" cy="5733288"/>
          </a:xfrm>
        </p:spPr>
        <p:txBody>
          <a:bodyPr>
            <a:normAutofit fontScale="55000" lnSpcReduction="20000"/>
          </a:bodyPr>
          <a:lstStyle/>
          <a:p>
            <a:pPr marL="0" indent="0" algn="ctr">
              <a:buNone/>
            </a:pPr>
            <a:r>
              <a:rPr lang="en-US" b="1" dirty="0"/>
              <a:t>Significant product, research, intellectual property, and commercialization opportunities have already been identified and documented.</a:t>
            </a:r>
          </a:p>
          <a:p>
            <a:pPr algn="ctr"/>
            <a:r>
              <a:rPr lang="en-US" dirty="0"/>
              <a:t>These opportunities span:</a:t>
            </a:r>
          </a:p>
          <a:p>
            <a:pPr algn="ctr"/>
            <a:r>
              <a:rPr lang="en-US" dirty="0"/>
              <a:t>Product Enhancements </a:t>
            </a:r>
          </a:p>
          <a:p>
            <a:pPr algn="ctr"/>
            <a:r>
              <a:rPr lang="en-US" dirty="0"/>
              <a:t>Platform Expansion </a:t>
            </a:r>
          </a:p>
          <a:p>
            <a:pPr algn="ctr"/>
            <a:r>
              <a:rPr lang="en-US" dirty="0"/>
              <a:t>Research Initiatives </a:t>
            </a:r>
          </a:p>
          <a:p>
            <a:pPr algn="ctr"/>
            <a:r>
              <a:rPr lang="en-US" dirty="0"/>
              <a:t>Patent Opportunities </a:t>
            </a:r>
          </a:p>
          <a:p>
            <a:pPr algn="ctr"/>
            <a:r>
              <a:rPr lang="en-US" dirty="0"/>
              <a:t>Licensing Models </a:t>
            </a:r>
          </a:p>
          <a:p>
            <a:pPr algn="ctr"/>
            <a:r>
              <a:rPr lang="en-US" dirty="0"/>
              <a:t>Multi-Domain Deployments</a:t>
            </a:r>
          </a:p>
          <a:p>
            <a:pPr marL="0" indent="0" algn="ctr">
              <a:buNone/>
            </a:pPr>
            <a:r>
              <a:rPr lang="en-US" b="1" dirty="0"/>
              <a:t>Current Position</a:t>
            </a:r>
          </a:p>
          <a:p>
            <a:pPr algn="ctr"/>
            <a:r>
              <a:rPr lang="en-US" b="1" dirty="0"/>
              <a:t>BTA Version 3.2.1 is not the destination.</a:t>
            </a:r>
            <a:endParaRPr lang="en-US" dirty="0"/>
          </a:p>
          <a:p>
            <a:pPr algn="ctr"/>
            <a:r>
              <a:rPr lang="en-US" dirty="0"/>
              <a:t>It is the first production implementation validating the core principles of:</a:t>
            </a:r>
          </a:p>
          <a:p>
            <a:pPr algn="ctr"/>
            <a:r>
              <a:rPr lang="en-US" dirty="0"/>
              <a:t>semantic continuity </a:t>
            </a:r>
          </a:p>
          <a:p>
            <a:pPr algn="ctr"/>
            <a:r>
              <a:rPr lang="en-US" dirty="0"/>
              <a:t>governed orchestration </a:t>
            </a:r>
          </a:p>
          <a:p>
            <a:pPr algn="ctr"/>
            <a:r>
              <a:rPr lang="en-US" dirty="0"/>
              <a:t>meaning preservation </a:t>
            </a:r>
          </a:p>
          <a:p>
            <a:pPr algn="ctr"/>
            <a:r>
              <a:rPr lang="en-US" dirty="0"/>
              <a:t>trust-centered AI interaction </a:t>
            </a:r>
          </a:p>
          <a:p>
            <a:pPr algn="ctr"/>
            <a:r>
              <a:rPr lang="en-US" dirty="0"/>
              <a:t>upon which future research, commercialization, and platform expansion can be built.</a:t>
            </a:r>
          </a:p>
          <a:p>
            <a:pPr marL="0" indent="0" algn="ctr">
              <a:buNone/>
            </a:pPr>
            <a:endParaRPr lang="en-US" sz="1500" dirty="0"/>
          </a:p>
          <a:p>
            <a:pPr marL="0" indent="0" algn="ctr">
              <a:buNone/>
            </a:pPr>
            <a:r>
              <a:rPr lang="en-US" b="1" dirty="0"/>
              <a:t>BTA Version 3.2.1 is not the culmination of the vision—it is the first production proof point of a broader platform architecture designed to support future research, commercialization, and multi-domain expansion.</a:t>
            </a:r>
          </a:p>
          <a:p>
            <a:endParaRPr lang="en-US" dirty="0"/>
          </a:p>
        </p:txBody>
      </p:sp>
      <p:sp>
        <p:nvSpPr>
          <p:cNvPr id="4" name="Footer Placeholder 3">
            <a:extLst>
              <a:ext uri="{FF2B5EF4-FFF2-40B4-BE49-F238E27FC236}">
                <a16:creationId xmlns:a16="http://schemas.microsoft.com/office/drawing/2014/main" id="{70874A71-D997-3EE8-0B31-F0F3ED9D9A7E}"/>
              </a:ext>
            </a:extLst>
          </p:cNvPr>
          <p:cNvSpPr>
            <a:spLocks noGrp="1"/>
          </p:cNvSpPr>
          <p:nvPr>
            <p:ph type="ftr" sz="quarter" idx="11"/>
          </p:nvPr>
        </p:nvSpPr>
        <p:spPr>
          <a:xfrm>
            <a:off x="2490216" y="6429184"/>
            <a:ext cx="416356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412260158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16A60-7A93-B217-BD5A-4D1120BD9A0B}"/>
              </a:ext>
            </a:extLst>
          </p:cNvPr>
          <p:cNvSpPr>
            <a:spLocks noGrp="1"/>
          </p:cNvSpPr>
          <p:nvPr>
            <p:ph type="title"/>
          </p:nvPr>
        </p:nvSpPr>
        <p:spPr>
          <a:xfrm>
            <a:off x="457200" y="145097"/>
            <a:ext cx="8229600" cy="1143000"/>
          </a:xfrm>
        </p:spPr>
        <p:txBody>
          <a:bodyPr>
            <a:normAutofit/>
          </a:bodyPr>
          <a:lstStyle/>
          <a:p>
            <a:r>
              <a:rPr lang="en-US" sz="3200" dirty="0"/>
              <a:t>Why Researchers, Architects, and Investors Should Care</a:t>
            </a:r>
          </a:p>
        </p:txBody>
      </p:sp>
      <p:sp>
        <p:nvSpPr>
          <p:cNvPr id="3" name="Content Placeholder 2">
            <a:extLst>
              <a:ext uri="{FF2B5EF4-FFF2-40B4-BE49-F238E27FC236}">
                <a16:creationId xmlns:a16="http://schemas.microsoft.com/office/drawing/2014/main" id="{04C9B5B2-8E58-E06E-EB9F-7FCF776F834F}"/>
              </a:ext>
            </a:extLst>
          </p:cNvPr>
          <p:cNvSpPr>
            <a:spLocks noGrp="1"/>
          </p:cNvSpPr>
          <p:nvPr>
            <p:ph idx="1"/>
          </p:nvPr>
        </p:nvSpPr>
        <p:spPr>
          <a:xfrm>
            <a:off x="393192" y="1239932"/>
            <a:ext cx="3401568" cy="5276977"/>
          </a:xfrm>
        </p:spPr>
        <p:txBody>
          <a:bodyPr>
            <a:normAutofit fontScale="40000" lnSpcReduction="20000"/>
          </a:bodyPr>
          <a:lstStyle/>
          <a:p>
            <a:r>
              <a:rPr lang="en-US" sz="4200" b="1" dirty="0"/>
              <a:t>Researchers</a:t>
            </a:r>
          </a:p>
          <a:p>
            <a:r>
              <a:rPr lang="en-US" sz="4200" dirty="0"/>
              <a:t>Potential opportunities:</a:t>
            </a:r>
          </a:p>
          <a:p>
            <a:r>
              <a:rPr lang="en-US" sz="4200" dirty="0"/>
              <a:t>Semantic Continuity Research </a:t>
            </a:r>
          </a:p>
          <a:p>
            <a:r>
              <a:rPr lang="en-US" sz="4200" dirty="0"/>
              <a:t>Trustworthy AI Research </a:t>
            </a:r>
          </a:p>
          <a:p>
            <a:r>
              <a:rPr lang="en-US" sz="4200" dirty="0"/>
              <a:t>Explainable AI Research </a:t>
            </a:r>
          </a:p>
          <a:p>
            <a:r>
              <a:rPr lang="en-US" sz="4200" dirty="0"/>
              <a:t>Multilingual Semantic Preservation </a:t>
            </a:r>
          </a:p>
          <a:p>
            <a:r>
              <a:rPr lang="en-US" sz="4200" dirty="0"/>
              <a:t>Human-Centered Knowledge Navigation </a:t>
            </a:r>
          </a:p>
          <a:p>
            <a:r>
              <a:rPr lang="en-US" sz="4200" dirty="0"/>
              <a:t>New Publication Opportunities </a:t>
            </a:r>
          </a:p>
          <a:p>
            <a:endParaRPr lang="en-US" sz="4200" b="1" dirty="0"/>
          </a:p>
          <a:p>
            <a:r>
              <a:rPr lang="en-US" sz="4200" b="1" dirty="0"/>
              <a:t>Solution Architects</a:t>
            </a:r>
          </a:p>
          <a:p>
            <a:r>
              <a:rPr lang="en-US" sz="4200" dirty="0"/>
              <a:t>Potential opportunities:</a:t>
            </a:r>
          </a:p>
          <a:p>
            <a:r>
              <a:rPr lang="en-US" sz="4200" dirty="0"/>
              <a:t>New AI Architecture Patterns </a:t>
            </a:r>
          </a:p>
          <a:p>
            <a:r>
              <a:rPr lang="en-US" sz="4200" dirty="0"/>
              <a:t>Governed Orchestration Frameworks </a:t>
            </a:r>
          </a:p>
          <a:p>
            <a:r>
              <a:rPr lang="en-US" sz="4200" dirty="0"/>
              <a:t>Enterprise Reference Architectures </a:t>
            </a:r>
          </a:p>
          <a:p>
            <a:r>
              <a:rPr lang="en-US" sz="4200" dirty="0"/>
              <a:t>Knowledge Coordination Platforms </a:t>
            </a:r>
          </a:p>
          <a:p>
            <a:r>
              <a:rPr lang="en-US" sz="4200" dirty="0"/>
              <a:t>AI Governance Models </a:t>
            </a:r>
          </a:p>
          <a:p>
            <a:endParaRPr lang="en-US" dirty="0"/>
          </a:p>
        </p:txBody>
      </p:sp>
      <p:sp>
        <p:nvSpPr>
          <p:cNvPr id="4" name="Content Placeholder 2">
            <a:extLst>
              <a:ext uri="{FF2B5EF4-FFF2-40B4-BE49-F238E27FC236}">
                <a16:creationId xmlns:a16="http://schemas.microsoft.com/office/drawing/2014/main" id="{1EF35CCB-CDF5-C740-9DD4-5FCE10C5E76F}"/>
              </a:ext>
            </a:extLst>
          </p:cNvPr>
          <p:cNvSpPr txBox="1">
            <a:spLocks/>
          </p:cNvSpPr>
          <p:nvPr/>
        </p:nvSpPr>
        <p:spPr>
          <a:xfrm>
            <a:off x="4834128" y="1615440"/>
            <a:ext cx="3401568" cy="4525963"/>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000" b="1" dirty="0"/>
              <a:t>Investors</a:t>
            </a:r>
          </a:p>
          <a:p>
            <a:r>
              <a:rPr lang="en-US" sz="2000" dirty="0"/>
              <a:t>Potential opportunities:</a:t>
            </a:r>
          </a:p>
          <a:p>
            <a:r>
              <a:rPr lang="en-US" sz="2000" dirty="0"/>
              <a:t>Multi-domain platform expansion </a:t>
            </a:r>
          </a:p>
          <a:p>
            <a:r>
              <a:rPr lang="en-US" sz="2000" dirty="0"/>
              <a:t>Licensing revenue </a:t>
            </a:r>
          </a:p>
          <a:p>
            <a:r>
              <a:rPr lang="en-US" sz="2000" dirty="0"/>
              <a:t>Platform economics </a:t>
            </a:r>
          </a:p>
          <a:p>
            <a:r>
              <a:rPr lang="en-US" sz="2000" dirty="0"/>
              <a:t>Enterprise AI infrastructure </a:t>
            </a:r>
          </a:p>
          <a:p>
            <a:r>
              <a:rPr lang="en-US" sz="2000" dirty="0"/>
              <a:t>Long-term IP creation</a:t>
            </a:r>
          </a:p>
          <a:p>
            <a:endParaRPr lang="en-US" dirty="0"/>
          </a:p>
        </p:txBody>
      </p:sp>
      <p:sp>
        <p:nvSpPr>
          <p:cNvPr id="5" name="Footer Placeholder 4">
            <a:extLst>
              <a:ext uri="{FF2B5EF4-FFF2-40B4-BE49-F238E27FC236}">
                <a16:creationId xmlns:a16="http://schemas.microsoft.com/office/drawing/2014/main" id="{77CC7EFC-6C2A-5595-82DC-6C6EDE4B2D07}"/>
              </a:ext>
            </a:extLst>
          </p:cNvPr>
          <p:cNvSpPr>
            <a:spLocks noGrp="1"/>
          </p:cNvSpPr>
          <p:nvPr>
            <p:ph type="ftr" sz="quarter" idx="11"/>
          </p:nvPr>
        </p:nvSpPr>
        <p:spPr>
          <a:xfrm>
            <a:off x="2642616" y="6341174"/>
            <a:ext cx="4383024"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9898639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949F16-8B44-A989-9E1D-8ADCC23C967D}"/>
              </a:ext>
            </a:extLst>
          </p:cNvPr>
          <p:cNvSpPr>
            <a:spLocks noGrp="1"/>
          </p:cNvSpPr>
          <p:nvPr>
            <p:ph idx="1"/>
          </p:nvPr>
        </p:nvSpPr>
        <p:spPr>
          <a:xfrm>
            <a:off x="457200" y="640080"/>
            <a:ext cx="8229600" cy="5980176"/>
          </a:xfrm>
        </p:spPr>
        <p:txBody>
          <a:bodyPr>
            <a:normAutofit fontScale="70000" lnSpcReduction="20000"/>
          </a:bodyPr>
          <a:lstStyle/>
          <a:p>
            <a:pPr marL="0" indent="0" algn="ctr">
              <a:buNone/>
            </a:pPr>
            <a:r>
              <a:rPr lang="en-US" sz="5700" b="1" dirty="0"/>
              <a:t>Closing Statement</a:t>
            </a:r>
          </a:p>
          <a:p>
            <a:pPr marL="0" indent="0" algn="ctr">
              <a:buNone/>
            </a:pPr>
            <a:endParaRPr lang="en-US" b="1" dirty="0"/>
          </a:p>
          <a:p>
            <a:r>
              <a:rPr lang="en-US" dirty="0"/>
              <a:t>TAD Concepts / BTA is not an attempt to build a better Bible application. </a:t>
            </a:r>
          </a:p>
          <a:p>
            <a:endParaRPr lang="en-US" dirty="0"/>
          </a:p>
          <a:p>
            <a:r>
              <a:rPr lang="en-US" dirty="0"/>
              <a:t>It is an investigation into whether AI can move beyond information retrieval toward governed understanding. </a:t>
            </a:r>
          </a:p>
          <a:p>
            <a:endParaRPr lang="en-US" dirty="0"/>
          </a:p>
          <a:p>
            <a:r>
              <a:rPr lang="en-US" dirty="0"/>
              <a:t>If that vision proves achievable, the result may be a new class of systems designed to preserve meaning, continuity, and trust across the world's most important bodies of knowledge.</a:t>
            </a:r>
          </a:p>
          <a:p>
            <a:endParaRPr lang="en-US" dirty="0"/>
          </a:p>
          <a:p>
            <a:r>
              <a:rPr lang="en-US" dirty="0"/>
              <a:t>We believe the opportunity is larger than a single application. The opportunity is determining whether Governed Semantic Orchestration can become a foundational layer for the next generation of AI knowledge systems.</a:t>
            </a:r>
          </a:p>
          <a:p>
            <a:pPr marL="0" indent="0">
              <a:buNone/>
            </a:pPr>
            <a:endParaRPr lang="en-US" dirty="0"/>
          </a:p>
        </p:txBody>
      </p:sp>
      <p:sp>
        <p:nvSpPr>
          <p:cNvPr id="2" name="Footer Placeholder 1">
            <a:extLst>
              <a:ext uri="{FF2B5EF4-FFF2-40B4-BE49-F238E27FC236}">
                <a16:creationId xmlns:a16="http://schemas.microsoft.com/office/drawing/2014/main" id="{02D8A31D-FD5D-07F7-3A06-FACB9F3C98A3}"/>
              </a:ext>
            </a:extLst>
          </p:cNvPr>
          <p:cNvSpPr>
            <a:spLocks noGrp="1"/>
          </p:cNvSpPr>
          <p:nvPr>
            <p:ph type="ftr" sz="quarter" idx="11"/>
          </p:nvPr>
        </p:nvSpPr>
        <p:spPr>
          <a:xfrm>
            <a:off x="2353056" y="6356350"/>
            <a:ext cx="4437888" cy="365125"/>
          </a:xfrm>
        </p:spPr>
        <p:txBody>
          <a:bodyPr/>
          <a:lstStyle/>
          <a:p>
            <a:r>
              <a:rPr lang="en-US" dirty="0"/>
              <a:t>BTA / TAD Concepts – PhD Review &amp; SBIR Exploration - Version 1</a:t>
            </a:r>
          </a:p>
        </p:txBody>
      </p:sp>
    </p:spTree>
    <p:extLst>
      <p:ext uri="{BB962C8B-B14F-4D97-AF65-F5344CB8AC3E}">
        <p14:creationId xmlns:p14="http://schemas.microsoft.com/office/powerpoint/2010/main" val="2666417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77</TotalTime>
  <Words>3106</Words>
  <Application>Microsoft Office PowerPoint</Application>
  <PresentationFormat>On-screen Show (4:3)</PresentationFormat>
  <Paragraphs>382</Paragraphs>
  <Slides>40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40</vt:i4>
      </vt:variant>
    </vt:vector>
  </HeadingPairs>
  <TitlesOfParts>
    <vt:vector size="44" baseType="lpstr">
      <vt:lpstr>Aptos</vt:lpstr>
      <vt:lpstr>Arial</vt:lpstr>
      <vt:lpstr>Calibri</vt:lpstr>
      <vt:lpstr>Office Theme</vt:lpstr>
      <vt:lpstr>TAD Concepts: Governed Semantic Orchestration BTA: initial Orchestration</vt:lpstr>
      <vt:lpstr>PowerPoint Presentation</vt:lpstr>
      <vt:lpstr>PowerPoint Presentation</vt:lpstr>
      <vt:lpstr>PowerPoint Presentation</vt:lpstr>
      <vt:lpstr>PowerPoint Presentation</vt:lpstr>
      <vt:lpstr>PowerPoint Presentation</vt:lpstr>
      <vt:lpstr>Why BTA Is the Proving Ground</vt:lpstr>
      <vt:lpstr>The Discovery</vt:lpstr>
      <vt:lpstr>The Problem</vt:lpstr>
      <vt:lpstr>The TAD Concepts Thesis</vt:lpstr>
      <vt:lpstr>Why BTA Is the Right Starting Point</vt:lpstr>
      <vt:lpstr>The Music Principle</vt:lpstr>
      <vt:lpstr>Governed Semantic Orchestration</vt:lpstr>
      <vt:lpstr>Scientific Value</vt:lpstr>
      <vt:lpstr>Current Accomplishments</vt:lpstr>
      <vt:lpstr>PowerPoint Presentation</vt:lpstr>
      <vt:lpstr>PowerPoint Presentation</vt:lpstr>
      <vt:lpstr>Current Status</vt:lpstr>
      <vt:lpstr>NSF Alignment</vt:lpstr>
      <vt:lpstr>Commercialization Vision</vt:lpstr>
      <vt:lpstr>Phase 1: BTA Market</vt:lpstr>
      <vt:lpstr>Phase 2: Knowledge Platforms</vt:lpstr>
      <vt:lpstr>Phase 3: Platform Licensing</vt:lpstr>
      <vt:lpstr>Why Researchers May Participate</vt:lpstr>
      <vt:lpstr>Potential Spin-Offs</vt:lpstr>
      <vt:lpstr>Relationship to TAD Concepts</vt:lpstr>
      <vt:lpstr>Key Questions</vt:lpstr>
      <vt:lpstr>Why This Matters</vt:lpstr>
      <vt:lpstr>PowerPoint Presentation</vt:lpstr>
      <vt:lpstr>PowerPoint Presentation</vt:lpstr>
      <vt:lpstr>Why Now?</vt:lpstr>
      <vt:lpstr>Why Existing Approaches Fall Short</vt:lpstr>
      <vt:lpstr>What Has Already Been Proven?</vt:lpstr>
      <vt:lpstr>Potential Intellectual Property Opportunities</vt:lpstr>
      <vt:lpstr>Organizational Foundation</vt:lpstr>
      <vt:lpstr>Organizational &amp; Platform Maturity</vt:lpstr>
      <vt:lpstr>Platform Expansion Roadmap</vt:lpstr>
      <vt:lpstr>Innovation Portfolio</vt:lpstr>
      <vt:lpstr>Why Researchers, Architects, and Investors Should Care</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Don Buckalew</cp:lastModifiedBy>
  <cp:revision>12</cp:revision>
  <dcterms:created xsi:type="dcterms:W3CDTF">2013-01-27T09:14:16Z</dcterms:created>
  <dcterms:modified xsi:type="dcterms:W3CDTF">2026-06-02T19:36:52Z</dcterms:modified>
  <cp:category/>
</cp:coreProperties>
</file>